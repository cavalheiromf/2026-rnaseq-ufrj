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20" Type="http://schemas.openxmlformats.org/officeDocument/2006/relationships/slide" Target="slides/slide1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e4faf48bf7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e4faf48bf7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e4faf48bf7_2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g3e4faf48bf7_2_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4faf48bf7_2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e4faf48bf7_2_1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4faf48bf7_2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g3e4faf48bf7_2_1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4faf48bf7_2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g3e4faf48bf7_2_12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e4faf48bf7_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e4faf48bf7_2_16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e4faf48bf7_2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g3e4faf48bf7_2_18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e4faf48bf7_2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g3e4faf48bf7_2_19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4faf48bf7_2_2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g3e4faf48bf7_2_2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4faf48bf7_2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g3e4faf48bf7_2_24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e4faf48bf7_2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g3e4faf48bf7_2_26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e4faf48bf7_2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g3e4faf48bf7_2_27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e4faf48bf7_2_2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g3e4faf48bf7_2_28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3e4faf48bf7_2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2" name="Google Shape;362;g3e4faf48bf7_2_2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g3e4faf48bf7_2_3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g3e4faf48bf7_2_31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e4faf48bf7_0_23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3e4faf48bf7_0_238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g3e4faf48bf7_0_53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2" name="Google Shape;422;g3e4faf48bf7_0_539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g3e4faf48bf7_2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g3e4faf48bf7_2_3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e4faf48bf7_2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g3e4faf48bf7_2_3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e4faf48bf7_2_4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g3e4faf48bf7_2_40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g3e4faf48bf7_2_4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8" name="Google Shape;558;g3e4faf48bf7_2_45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g3e4faf48bf7_2_4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g3e4faf48bf7_2_4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e4faf48bf7_2_4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7" name="Google Shape;587;g3e4faf48bf7_2_47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9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3e4faf48bf7_2_4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g3e4faf48bf7_2_48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7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3e4faf48bf7_2_5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g3e4faf48bf7_2_50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6" name="Shape 6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Google Shape;647;g3e4faf48bf7_2_5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g3e4faf48bf7_2_5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g3e4faf48bf7_2_5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g3e4faf48bf7_2_53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g3e4faf48bf7_2_5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6" name="Google Shape;696;g3e4faf48bf7_2_55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4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5" name="Google Shape;715;g3e4faf48bf7_2_5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g3e4faf48bf7_2_56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3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3e4faf48bf7_2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5" name="Google Shape;725;g3e4faf48bf7_2_57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6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3e4faf48bf7_2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8" name="Google Shape;748;g3e4faf48bf7_2_5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g3e4faf48bf7_0_4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0" name="Google Shape;770;g3e4faf48bf7_0_4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1" name="Shape 7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2" name="Google Shape;792;g3e4faf48bf7_2_6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3" name="Google Shape;793;g3e4faf48bf7_2_6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3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g3e4faf48bf7_2_6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5" name="Google Shape;815;g3e4faf48bf7_2_6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6" name="Shape 8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7" name="Google Shape;837;g3e4faf48bf7_2_6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8" name="Google Shape;838;g3e4faf48bf7_2_6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5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3e4faf48bf7_2_7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7" name="Google Shape;867;g3e4faf48bf7_2_7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0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g3e4faf48bf7_2_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2" name="Google Shape;882;g3e4faf48bf7_2_73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50" y="1597819"/>
            <a:ext cx="58293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028700" y="2914650"/>
            <a:ext cx="48006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541735" y="3305175"/>
            <a:ext cx="58293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41735" y="2180035"/>
            <a:ext cx="58293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4290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86150" y="1200150"/>
            <a:ext cx="302895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42900" y="1151335"/>
            <a:ext cx="303014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42900" y="1631156"/>
            <a:ext cx="303014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83769" y="1151335"/>
            <a:ext cx="303133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83769" y="1631156"/>
            <a:ext cx="303133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42900" y="204788"/>
            <a:ext cx="225623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681287" y="204788"/>
            <a:ext cx="3833813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42900" y="1076325"/>
            <a:ext cx="225623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344216" y="3600450"/>
            <a:ext cx="41148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344216" y="459581"/>
            <a:ext cx="41148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344216" y="4025503"/>
            <a:ext cx="41148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31764" y="-188714"/>
            <a:ext cx="3394472" cy="6172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3549253" y="1628775"/>
            <a:ext cx="4388644" cy="15430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406003" y="142875"/>
            <a:ext cx="4388644" cy="45148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(g3e4fbd95882_20_0)">
  <p:cSld name="Generated (g3e4fbd95882_20_0)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900" y="205978"/>
            <a:ext cx="61722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900" y="1200150"/>
            <a:ext cx="61722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42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343150" y="4767263"/>
            <a:ext cx="21717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914900" y="4767263"/>
            <a:ext cx="16002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3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7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3.png"/><Relationship Id="rId4" Type="http://schemas.openxmlformats.org/officeDocument/2006/relationships/image" Target="../media/image23.png"/><Relationship Id="rId5" Type="http://schemas.openxmlformats.org/officeDocument/2006/relationships/image" Target="../media/image2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3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3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3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3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4"/>
          <p:cNvSpPr/>
          <p:nvPr/>
        </p:nvSpPr>
        <p:spPr>
          <a:xfrm>
            <a:off x="0" y="0"/>
            <a:ext cx="2400300" cy="82296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4"/>
          <p:cNvSpPr/>
          <p:nvPr/>
        </p:nvSpPr>
        <p:spPr>
          <a:xfrm>
            <a:off x="2400300" y="0"/>
            <a:ext cx="6743471" cy="82296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4"/>
          <p:cNvSpPr txBox="1"/>
          <p:nvPr/>
        </p:nvSpPr>
        <p:spPr>
          <a:xfrm>
            <a:off x="685800" y="54864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🧬</a:t>
            </a:r>
            <a:endParaRPr sz="1100"/>
          </a:p>
        </p:txBody>
      </p:sp>
      <p:sp>
        <p:nvSpPr>
          <p:cNvPr id="88" name="Google Shape;88;p14"/>
          <p:cNvSpPr txBox="1"/>
          <p:nvPr/>
        </p:nvSpPr>
        <p:spPr>
          <a:xfrm>
            <a:off x="685800" y="1371600"/>
            <a:ext cx="754380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300" u="none" cap="none" strike="noStrike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Expressão Diferencial</a:t>
            </a:r>
            <a:br>
              <a:rPr b="1" i="0" lang="pt-BR" sz="3300" u="none" cap="none" strike="noStrike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pt-BR" sz="3300" u="none" cap="none" strike="noStrike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de Genes</a:t>
            </a:r>
            <a:endParaRPr sz="1100"/>
          </a:p>
        </p:txBody>
      </p:sp>
      <p:sp>
        <p:nvSpPr>
          <p:cNvPr id="89" name="Google Shape;89;p14"/>
          <p:cNvSpPr txBox="1"/>
          <p:nvPr/>
        </p:nvSpPr>
        <p:spPr>
          <a:xfrm>
            <a:off x="685800" y="240030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7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Análise de RNA-seq com DESeq2</a:t>
            </a:r>
            <a:endParaRPr sz="1100"/>
          </a:p>
        </p:txBody>
      </p:sp>
      <p:sp>
        <p:nvSpPr>
          <p:cNvPr id="90" name="Google Shape;90;p14"/>
          <p:cNvSpPr txBox="1"/>
          <p:nvPr/>
        </p:nvSpPr>
        <p:spPr>
          <a:xfrm>
            <a:off x="685800" y="3429000"/>
            <a:ext cx="7543800" cy="136191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Mariana Feitosa Cavalheiro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Tópicos especiais em Genética VII - Ciências ômicas (IBG423)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2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27/05/2026</a:t>
            </a:r>
            <a:endParaRPr sz="1100"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3086100" y="3086100"/>
            <a:ext cx="2948940" cy="27432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5"/>
          <p:cNvGrpSpPr/>
          <p:nvPr/>
        </p:nvGrpSpPr>
        <p:grpSpPr>
          <a:xfrm>
            <a:off x="0" y="0"/>
            <a:ext cx="9143700" cy="845820"/>
            <a:chOff x="0" y="0"/>
            <a:chExt cx="9143700" cy="845820"/>
          </a:xfrm>
        </p:grpSpPr>
        <p:sp>
          <p:nvSpPr>
            <p:cNvPr id="97" name="Google Shape;97;p15"/>
            <p:cNvSpPr/>
            <p:nvPr/>
          </p:nvSpPr>
          <p:spPr>
            <a:xfrm>
              <a:off x="0" y="0"/>
              <a:ext cx="2400300" cy="82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2400300" y="0"/>
              <a:ext cx="6743400" cy="82200"/>
            </a:xfrm>
            <a:prstGeom prst="rect">
              <a:avLst/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 txBox="1"/>
            <p:nvPr/>
          </p:nvSpPr>
          <p:spPr>
            <a:xfrm>
              <a:off x="411480" y="274320"/>
              <a:ext cx="82296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3200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📋 Agenda</a:t>
              </a:r>
              <a:endParaRPr b="1" sz="32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5"/>
          <p:cNvGrpSpPr/>
          <p:nvPr/>
        </p:nvGrpSpPr>
        <p:grpSpPr>
          <a:xfrm>
            <a:off x="571500" y="1047750"/>
            <a:ext cx="8001000" cy="3619500"/>
            <a:chOff x="571500" y="1047750"/>
            <a:chExt cx="8001000" cy="3619500"/>
          </a:xfrm>
        </p:grpSpPr>
        <p:sp>
          <p:nvSpPr>
            <p:cNvPr id="101" name="Google Shape;101;p15"/>
            <p:cNvSpPr/>
            <p:nvPr/>
          </p:nvSpPr>
          <p:spPr>
            <a:xfrm>
              <a:off x="571500" y="1047750"/>
              <a:ext cx="8001000" cy="3619500"/>
            </a:xfrm>
            <a:prstGeom prst="roundRect">
              <a:avLst>
                <a:gd fmla="val 5263" name="adj"/>
              </a:avLst>
            </a:prstGeom>
            <a:solidFill>
              <a:srgbClr val="FFFFFF"/>
            </a:solidFill>
            <a:ln cap="flat" cmpd="sng" w="9525">
              <a:solidFill>
                <a:srgbClr val="004B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02" name="Google Shape;102;p15"/>
            <p:cNvGrpSpPr/>
            <p:nvPr/>
          </p:nvGrpSpPr>
          <p:grpSpPr>
            <a:xfrm>
              <a:off x="762000" y="1238250"/>
              <a:ext cx="7620000" cy="428700"/>
              <a:chOff x="762000" y="1238250"/>
              <a:chExt cx="7620000" cy="428700"/>
            </a:xfrm>
          </p:grpSpPr>
          <p:sp>
            <p:nvSpPr>
              <p:cNvPr id="103" name="Google Shape;103;p15"/>
              <p:cNvSpPr/>
              <p:nvPr/>
            </p:nvSpPr>
            <p:spPr>
              <a:xfrm>
                <a:off x="762000" y="1238250"/>
                <a:ext cx="7620000" cy="428700"/>
              </a:xfrm>
              <a:prstGeom prst="roundRect">
                <a:avLst>
                  <a:gd fmla="val 22222" name="adj"/>
                </a:avLst>
              </a:prstGeom>
              <a:solidFill>
                <a:srgbClr val="F6F4EE">
                  <a:alpha val="5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4" name="Google Shape;104;p15"/>
              <p:cNvSpPr txBox="1"/>
              <p:nvPr/>
            </p:nvSpPr>
            <p:spPr>
              <a:xfrm>
                <a:off x="857250" y="1238250"/>
                <a:ext cx="285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600">
                    <a:solidFill>
                      <a:srgbClr val="DEA02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1</a:t>
                </a:r>
                <a:endParaRPr b="1" sz="1600">
                  <a:solidFill>
                    <a:srgbClr val="DEA02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5" name="Google Shape;105;p15"/>
              <p:cNvSpPr txBox="1"/>
              <p:nvPr/>
            </p:nvSpPr>
            <p:spPr>
              <a:xfrm>
                <a:off x="1238250" y="1238250"/>
                <a:ext cx="11430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300">
                    <a:solidFill>
                      <a:srgbClr val="DEA02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Boas práticas</a:t>
                </a:r>
                <a:endParaRPr b="1" sz="1300">
                  <a:solidFill>
                    <a:srgbClr val="DEA02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6" name="Google Shape;106;p15"/>
              <p:cNvSpPr txBox="1"/>
              <p:nvPr/>
            </p:nvSpPr>
            <p:spPr>
              <a:xfrm>
                <a:off x="2476500" y="1238250"/>
                <a:ext cx="5524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t-BR" sz="14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Organização, Git e Reprodutibilidade</a:t>
                </a:r>
                <a:endParaRPr b="0" sz="14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" name="Google Shape;107;p15"/>
            <p:cNvGrpSpPr/>
            <p:nvPr/>
          </p:nvGrpSpPr>
          <p:grpSpPr>
            <a:xfrm>
              <a:off x="857250" y="1762125"/>
              <a:ext cx="7143750" cy="428700"/>
              <a:chOff x="857250" y="1762125"/>
              <a:chExt cx="7143750" cy="428700"/>
            </a:xfrm>
          </p:grpSpPr>
          <p:sp>
            <p:nvSpPr>
              <p:cNvPr id="108" name="Google Shape;108;p15"/>
              <p:cNvSpPr txBox="1"/>
              <p:nvPr/>
            </p:nvSpPr>
            <p:spPr>
              <a:xfrm>
                <a:off x="857250" y="1762125"/>
                <a:ext cx="285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6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2</a:t>
                </a:r>
                <a:endParaRPr b="1" sz="16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9" name="Google Shape;109;p15"/>
              <p:cNvSpPr txBox="1"/>
              <p:nvPr/>
            </p:nvSpPr>
            <p:spPr>
              <a:xfrm>
                <a:off x="1238250" y="1762125"/>
                <a:ext cx="11430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3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Revisão</a:t>
                </a:r>
                <a:endParaRPr b="1" sz="13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0" name="Google Shape;110;p15"/>
              <p:cNvSpPr txBox="1"/>
              <p:nvPr/>
            </p:nvSpPr>
            <p:spPr>
              <a:xfrm>
                <a:off x="2476500" y="1762125"/>
                <a:ext cx="5524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t-BR" sz="14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Pipeline RNA-seq: onde estamos?</a:t>
                </a:r>
                <a:endParaRPr b="0" sz="14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1" name="Google Shape;111;p15"/>
            <p:cNvGrpSpPr/>
            <p:nvPr/>
          </p:nvGrpSpPr>
          <p:grpSpPr>
            <a:xfrm>
              <a:off x="762000" y="2286000"/>
              <a:ext cx="7620000" cy="428700"/>
              <a:chOff x="762000" y="2286000"/>
              <a:chExt cx="7620000" cy="428700"/>
            </a:xfrm>
          </p:grpSpPr>
          <p:sp>
            <p:nvSpPr>
              <p:cNvPr id="112" name="Google Shape;112;p15"/>
              <p:cNvSpPr/>
              <p:nvPr/>
            </p:nvSpPr>
            <p:spPr>
              <a:xfrm>
                <a:off x="762000" y="2286000"/>
                <a:ext cx="7620000" cy="428700"/>
              </a:xfrm>
              <a:prstGeom prst="roundRect">
                <a:avLst>
                  <a:gd fmla="val 22222" name="adj"/>
                </a:avLst>
              </a:prstGeom>
              <a:solidFill>
                <a:srgbClr val="F6F4EE">
                  <a:alpha val="5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3" name="Google Shape;113;p15"/>
              <p:cNvSpPr txBox="1"/>
              <p:nvPr/>
            </p:nvSpPr>
            <p:spPr>
              <a:xfrm>
                <a:off x="857250" y="2286000"/>
                <a:ext cx="285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600">
                    <a:solidFill>
                      <a:srgbClr val="00559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3</a:t>
                </a:r>
                <a:endParaRPr b="1" sz="16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4" name="Google Shape;114;p15"/>
              <p:cNvSpPr txBox="1"/>
              <p:nvPr/>
            </p:nvSpPr>
            <p:spPr>
              <a:xfrm>
                <a:off x="1238250" y="2286000"/>
                <a:ext cx="11430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300">
                    <a:solidFill>
                      <a:srgbClr val="00559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Teoria</a:t>
                </a:r>
                <a:endParaRPr b="1" sz="13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5" name="Google Shape;115;p15"/>
              <p:cNvSpPr txBox="1"/>
              <p:nvPr/>
            </p:nvSpPr>
            <p:spPr>
              <a:xfrm>
                <a:off x="2476500" y="2286000"/>
                <a:ext cx="5524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t-BR" sz="14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Expressão diferencial com DESeq2</a:t>
                </a:r>
                <a:endParaRPr b="0" sz="14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6" name="Google Shape;116;p15"/>
            <p:cNvGrpSpPr/>
            <p:nvPr/>
          </p:nvGrpSpPr>
          <p:grpSpPr>
            <a:xfrm>
              <a:off x="857250" y="2809875"/>
              <a:ext cx="7143750" cy="428700"/>
              <a:chOff x="857250" y="2809875"/>
              <a:chExt cx="7143750" cy="428700"/>
            </a:xfrm>
          </p:grpSpPr>
          <p:sp>
            <p:nvSpPr>
              <p:cNvPr id="117" name="Google Shape;117;p15"/>
              <p:cNvSpPr txBox="1"/>
              <p:nvPr/>
            </p:nvSpPr>
            <p:spPr>
              <a:xfrm>
                <a:off x="857250" y="2809875"/>
                <a:ext cx="285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600">
                    <a:solidFill>
                      <a:srgbClr val="DEA02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4</a:t>
                </a:r>
                <a:endParaRPr b="1" sz="1600">
                  <a:solidFill>
                    <a:srgbClr val="DEA02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8" name="Google Shape;118;p15"/>
              <p:cNvSpPr txBox="1"/>
              <p:nvPr/>
            </p:nvSpPr>
            <p:spPr>
              <a:xfrm>
                <a:off x="1238250" y="2809875"/>
                <a:ext cx="11430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300">
                    <a:solidFill>
                      <a:srgbClr val="DEA02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Prática</a:t>
                </a:r>
                <a:endParaRPr b="1" sz="1300">
                  <a:solidFill>
                    <a:srgbClr val="DEA02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9" name="Google Shape;119;p15"/>
              <p:cNvSpPr txBox="1"/>
              <p:nvPr/>
            </p:nvSpPr>
            <p:spPr>
              <a:xfrm>
                <a:off x="2476500" y="2809875"/>
                <a:ext cx="5524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t-BR" sz="14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Rodando a análise no R</a:t>
                </a:r>
                <a:endParaRPr b="0" sz="14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0" name="Google Shape;120;p15"/>
            <p:cNvGrpSpPr/>
            <p:nvPr/>
          </p:nvGrpSpPr>
          <p:grpSpPr>
            <a:xfrm>
              <a:off x="762000" y="3333750"/>
              <a:ext cx="7620000" cy="428700"/>
              <a:chOff x="762000" y="3333750"/>
              <a:chExt cx="7620000" cy="428700"/>
            </a:xfrm>
          </p:grpSpPr>
          <p:sp>
            <p:nvSpPr>
              <p:cNvPr id="121" name="Google Shape;121;p15"/>
              <p:cNvSpPr/>
              <p:nvPr/>
            </p:nvSpPr>
            <p:spPr>
              <a:xfrm>
                <a:off x="762000" y="3333750"/>
                <a:ext cx="7620000" cy="428700"/>
              </a:xfrm>
              <a:prstGeom prst="roundRect">
                <a:avLst>
                  <a:gd fmla="val 22222" name="adj"/>
                </a:avLst>
              </a:prstGeom>
              <a:solidFill>
                <a:srgbClr val="F6F4EE">
                  <a:alpha val="5000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2" name="Google Shape;122;p15"/>
              <p:cNvSpPr txBox="1"/>
              <p:nvPr/>
            </p:nvSpPr>
            <p:spPr>
              <a:xfrm>
                <a:off x="857250" y="3333750"/>
                <a:ext cx="285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600">
                    <a:solidFill>
                      <a:srgbClr val="00559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5</a:t>
                </a:r>
                <a:endParaRPr b="1" sz="16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3" name="Google Shape;123;p15"/>
              <p:cNvSpPr txBox="1"/>
              <p:nvPr/>
            </p:nvSpPr>
            <p:spPr>
              <a:xfrm>
                <a:off x="1238250" y="3333750"/>
                <a:ext cx="11430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300">
                    <a:solidFill>
                      <a:srgbClr val="00559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Teoria</a:t>
                </a:r>
                <a:endParaRPr b="1" sz="13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4" name="Google Shape;124;p15"/>
              <p:cNvSpPr txBox="1"/>
              <p:nvPr/>
            </p:nvSpPr>
            <p:spPr>
              <a:xfrm>
                <a:off x="2476500" y="3333750"/>
                <a:ext cx="5524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t-BR" sz="14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Métricas de qualidade: MA plot &amp; Volcano plot</a:t>
                </a:r>
                <a:endParaRPr b="0" sz="14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25" name="Google Shape;125;p15"/>
            <p:cNvGrpSpPr/>
            <p:nvPr/>
          </p:nvGrpSpPr>
          <p:grpSpPr>
            <a:xfrm>
              <a:off x="857250" y="3857625"/>
              <a:ext cx="7143750" cy="428700"/>
              <a:chOff x="857250" y="3857625"/>
              <a:chExt cx="7143750" cy="428700"/>
            </a:xfrm>
          </p:grpSpPr>
          <p:sp>
            <p:nvSpPr>
              <p:cNvPr id="126" name="Google Shape;126;p15"/>
              <p:cNvSpPr txBox="1"/>
              <p:nvPr/>
            </p:nvSpPr>
            <p:spPr>
              <a:xfrm>
                <a:off x="857250" y="3857625"/>
                <a:ext cx="2859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600">
                    <a:solidFill>
                      <a:srgbClr val="6A1B9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6</a:t>
                </a:r>
                <a:endParaRPr b="1" sz="1600">
                  <a:solidFill>
                    <a:srgbClr val="6A1B9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7" name="Google Shape;127;p15"/>
              <p:cNvSpPr txBox="1"/>
              <p:nvPr/>
            </p:nvSpPr>
            <p:spPr>
              <a:xfrm>
                <a:off x="1238250" y="3857625"/>
                <a:ext cx="11430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300">
                    <a:solidFill>
                      <a:srgbClr val="6A1B9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Prática</a:t>
                </a:r>
                <a:endParaRPr b="1" sz="1300">
                  <a:solidFill>
                    <a:srgbClr val="6A1B9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28" name="Google Shape;128;p15"/>
              <p:cNvSpPr txBox="1"/>
              <p:nvPr/>
            </p:nvSpPr>
            <p:spPr>
              <a:xfrm>
                <a:off x="2476500" y="3857625"/>
                <a:ext cx="55245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0" lang="pt-BR" sz="14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Enriquecimento funcional: ORA, GSEA, KEGG</a:t>
                </a:r>
                <a:endParaRPr b="0" sz="14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29" name="Google Shape;129;p15"/>
          <p:cNvSpPr txBox="1"/>
          <p:nvPr/>
        </p:nvSpPr>
        <p:spPr>
          <a:xfrm>
            <a:off x="342900" y="4869180"/>
            <a:ext cx="8458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b="0"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6"/>
          <p:cNvSpPr/>
          <p:nvPr/>
        </p:nvSpPr>
        <p:spPr>
          <a:xfrm>
            <a:off x="0" y="0"/>
            <a:ext cx="2400300" cy="82296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2400300" y="0"/>
            <a:ext cx="6743471" cy="82296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685800" y="192024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Boas Práticas</a:t>
            </a:r>
            <a:endParaRPr sz="1100"/>
          </a:p>
        </p:txBody>
      </p:sp>
      <p:sp>
        <p:nvSpPr>
          <p:cNvPr id="137" name="Google Shape;137;p16"/>
          <p:cNvSpPr txBox="1"/>
          <p:nvPr/>
        </p:nvSpPr>
        <p:spPr>
          <a:xfrm>
            <a:off x="685800" y="260604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Organização, reprodutibilidade e documentação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7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7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/>
          </a:p>
        </p:txBody>
      </p:sp>
      <p:sp>
        <p:nvSpPr>
          <p:cNvPr id="145" name="Google Shape;145;p17"/>
          <p:cNvSpPr txBox="1"/>
          <p:nvPr/>
        </p:nvSpPr>
        <p:spPr>
          <a:xfrm>
            <a:off x="411480" y="274320"/>
            <a:ext cx="8229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📁  Estrutura de Diretórios</a:t>
            </a:r>
            <a:endParaRPr sz="1100"/>
          </a:p>
        </p:txBody>
      </p:sp>
      <p:grpSp>
        <p:nvGrpSpPr>
          <p:cNvPr id="146" name="Google Shape;146;p17"/>
          <p:cNvGrpSpPr/>
          <p:nvPr/>
        </p:nvGrpSpPr>
        <p:grpSpPr>
          <a:xfrm>
            <a:off x="381000" y="857250"/>
            <a:ext cx="8382000" cy="3810000"/>
            <a:chOff x="381000" y="857250"/>
            <a:chExt cx="8382000" cy="3810000"/>
          </a:xfrm>
        </p:grpSpPr>
        <p:sp>
          <p:nvSpPr>
            <p:cNvPr id="147" name="Google Shape;147;p17"/>
            <p:cNvSpPr/>
            <p:nvPr/>
          </p:nvSpPr>
          <p:spPr>
            <a:xfrm>
              <a:off x="381000" y="857250"/>
              <a:ext cx="8382000" cy="3810000"/>
            </a:xfrm>
            <a:prstGeom prst="roundRect">
              <a:avLst>
                <a:gd fmla="val 4000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" name="Google Shape;148;p17"/>
            <p:cNvSpPr/>
            <p:nvPr/>
          </p:nvSpPr>
          <p:spPr>
            <a:xfrm>
              <a:off x="571500" y="1047750"/>
              <a:ext cx="3429000" cy="3429000"/>
            </a:xfrm>
            <a:prstGeom prst="roundRect">
              <a:avLst>
                <a:gd fmla="val 3333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7"/>
            <p:cNvSpPr txBox="1"/>
            <p:nvPr/>
          </p:nvSpPr>
          <p:spPr>
            <a:xfrm>
              <a:off x="714375" y="1190625"/>
              <a:ext cx="3143400" cy="3143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50">
                  <a:solidFill>
                    <a:srgbClr val="004B87"/>
                  </a:solidFill>
                  <a:latin typeface="Consolas"/>
                  <a:ea typeface="Consolas"/>
                  <a:cs typeface="Consolas"/>
                  <a:sym typeface="Consolas"/>
                </a:rPr>
                <a:t>projeto-rnaseq/</a:t>
              </a:r>
              <a:endParaRPr b="1" sz="1150">
                <a:solidFill>
                  <a:srgbClr val="004B87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README.md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data/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│ ├── raw/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│ ├── trimmed/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│ └── counts/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reference/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scripts/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├── results/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│ ├── fastqc/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│ ├── star/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│ ├── figures/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│ ├── tables/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│ └── objects/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50">
                  <a:solidFill>
                    <a:srgbClr val="1E293B"/>
                  </a:solidFill>
                  <a:latin typeface="Consolas"/>
                  <a:ea typeface="Consolas"/>
                  <a:cs typeface="Consolas"/>
                  <a:sym typeface="Consolas"/>
                </a:rPr>
                <a:t>└── .gitignore</a:t>
              </a:r>
              <a:endParaRPr sz="1150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grpSp>
          <p:nvGrpSpPr>
            <p:cNvPr id="150" name="Google Shape;150;p17"/>
            <p:cNvGrpSpPr/>
            <p:nvPr/>
          </p:nvGrpSpPr>
          <p:grpSpPr>
            <a:xfrm>
              <a:off x="4191000" y="1047750"/>
              <a:ext cx="4381500" cy="3428925"/>
              <a:chOff x="0" y="0"/>
              <a:chExt cx="4381500" cy="3428925"/>
            </a:xfrm>
          </p:grpSpPr>
          <p:sp>
            <p:nvSpPr>
              <p:cNvPr id="151" name="Google Shape;151;p17"/>
              <p:cNvSpPr/>
              <p:nvPr/>
            </p:nvSpPr>
            <p:spPr>
              <a:xfrm>
                <a:off x="0" y="0"/>
                <a:ext cx="4381500" cy="381000"/>
              </a:xfrm>
              <a:prstGeom prst="roundRect">
                <a:avLst>
                  <a:gd fmla="val 20000" name="adj"/>
                </a:avLst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7"/>
              <p:cNvSpPr txBox="1"/>
              <p:nvPr/>
            </p:nvSpPr>
            <p:spPr>
              <a:xfrm>
                <a:off x="95250" y="0"/>
                <a:ext cx="419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200">
                    <a:solidFill>
                      <a:srgbClr val="1D4ED8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README.md</a:t>
                </a:r>
                <a:r>
                  <a:rPr lang="pt-BR" sz="1200"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pt-BR" sz="12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Guia essencial do projeto</a:t>
                </a:r>
                <a:endParaRPr sz="12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3" name="Google Shape;153;p17"/>
              <p:cNvSpPr/>
              <p:nvPr/>
            </p:nvSpPr>
            <p:spPr>
              <a:xfrm>
                <a:off x="0" y="476250"/>
                <a:ext cx="4381500" cy="571500"/>
              </a:xfrm>
              <a:prstGeom prst="roundRect">
                <a:avLst>
                  <a:gd fmla="val 13333" name="adj"/>
                </a:avLst>
              </a:prstGeom>
              <a:solidFill>
                <a:srgbClr val="F0FDF4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4" name="Google Shape;154;p17"/>
              <p:cNvSpPr txBox="1"/>
              <p:nvPr/>
            </p:nvSpPr>
            <p:spPr>
              <a:xfrm>
                <a:off x="95250" y="476250"/>
                <a:ext cx="4191000" cy="571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15803D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data/</a:t>
                </a:r>
                <a:endParaRPr b="1" sz="1100">
                  <a:solidFill>
                    <a:srgbClr val="15803D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rgbClr val="47556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Armazena FASTQs brutos (imutáveis), após trimming e matrizes de contagens.</a:t>
                </a:r>
                <a:endParaRPr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5" name="Google Shape;155;p17"/>
              <p:cNvSpPr/>
              <p:nvPr/>
            </p:nvSpPr>
            <p:spPr>
              <a:xfrm>
                <a:off x="0" y="1143000"/>
                <a:ext cx="4381500" cy="428700"/>
              </a:xfrm>
              <a:prstGeom prst="roundRect">
                <a:avLst>
                  <a:gd fmla="val 17777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7"/>
              <p:cNvSpPr txBox="1"/>
              <p:nvPr/>
            </p:nvSpPr>
            <p:spPr>
              <a:xfrm>
                <a:off x="95250" y="1143000"/>
                <a:ext cx="41910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reference/</a:t>
                </a:r>
                <a:r>
                  <a:rPr lang="pt-BR" sz="1100"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pt-BR" sz="11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Genoma, anotações (GTF) e índices</a:t>
                </a:r>
                <a:endParaRPr sz="11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7" name="Google Shape;157;p17"/>
              <p:cNvSpPr/>
              <p:nvPr/>
            </p:nvSpPr>
            <p:spPr>
              <a:xfrm>
                <a:off x="0" y="1666875"/>
                <a:ext cx="4381500" cy="428700"/>
              </a:xfrm>
              <a:prstGeom prst="roundRect">
                <a:avLst>
                  <a:gd fmla="val 17777" name="adj"/>
                </a:avLst>
              </a:prstGeom>
              <a:solidFill>
                <a:srgbClr val="F8FAFC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7"/>
              <p:cNvSpPr txBox="1"/>
              <p:nvPr/>
            </p:nvSpPr>
            <p:spPr>
              <a:xfrm>
                <a:off x="95250" y="1666875"/>
                <a:ext cx="4191000" cy="428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334155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scripts/</a:t>
                </a:r>
                <a:r>
                  <a:rPr lang="pt-BR" sz="1100"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pt-BR" sz="11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Toda a lógica em R, Python ou Bash</a:t>
                </a:r>
                <a:endParaRPr sz="11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59" name="Google Shape;159;p17"/>
              <p:cNvSpPr/>
              <p:nvPr/>
            </p:nvSpPr>
            <p:spPr>
              <a:xfrm>
                <a:off x="0" y="2190750"/>
                <a:ext cx="4381500" cy="809700"/>
              </a:xfrm>
              <a:prstGeom prst="roundRect">
                <a:avLst>
                  <a:gd fmla="val 9411" name="adj"/>
                </a:avLst>
              </a:pr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0" name="Google Shape;160;p17"/>
              <p:cNvSpPr txBox="1"/>
              <p:nvPr/>
            </p:nvSpPr>
            <p:spPr>
              <a:xfrm>
                <a:off x="95250" y="2190750"/>
                <a:ext cx="4191000" cy="809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B4530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results/</a:t>
                </a:r>
                <a:endParaRPr b="1" sz="1100">
                  <a:solidFill>
                    <a:srgbClr val="B4530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rgbClr val="78350F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Saídas organizadas: Relatórios QC, alinhamentos (BAM), plots, tabelas e objetos binários (.rds).</a:t>
                </a:r>
                <a:endParaRPr sz="1100">
                  <a:solidFill>
                    <a:srgbClr val="78350F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17"/>
              <p:cNvSpPr/>
              <p:nvPr/>
            </p:nvSpPr>
            <p:spPr>
              <a:xfrm>
                <a:off x="0" y="3095625"/>
                <a:ext cx="4381500" cy="333300"/>
              </a:xfrm>
              <a:prstGeom prst="roundRect">
                <a:avLst>
                  <a:gd fmla="val 22857" name="adj"/>
                </a:avLst>
              </a:prstGeom>
              <a:solidFill>
                <a:srgbClr val="FEF2F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7"/>
              <p:cNvSpPr txBox="1"/>
              <p:nvPr/>
            </p:nvSpPr>
            <p:spPr>
              <a:xfrm>
                <a:off x="95250" y="3095625"/>
                <a:ext cx="4191000" cy="3333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B91C1C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.gitignore</a:t>
                </a:r>
                <a:r>
                  <a:rPr lang="pt-BR" sz="1100">
                    <a:latin typeface="Calibri"/>
                    <a:ea typeface="Calibri"/>
                    <a:cs typeface="Calibri"/>
                    <a:sym typeface="Calibri"/>
                  </a:rPr>
                  <a:t> </a:t>
                </a:r>
                <a:r>
                  <a:rPr lang="pt-BR" sz="1100">
                    <a:solidFill>
                      <a:srgbClr val="991B1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→ Previne envio de arquivos grandes ao Git</a:t>
                </a:r>
                <a:endParaRPr sz="1100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63" name="Google Shape;163;p17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8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/>
          </a:p>
        </p:txBody>
      </p:sp>
      <p:sp>
        <p:nvSpPr>
          <p:cNvPr id="171" name="Google Shape;171;p18"/>
          <p:cNvSpPr txBox="1"/>
          <p:nvPr/>
        </p:nvSpPr>
        <p:spPr>
          <a:xfrm>
            <a:off x="411480" y="274320"/>
            <a:ext cx="8229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📝  O README — Seu "eu do futuro" agradece!</a:t>
            </a:r>
            <a:endParaRPr sz="1100"/>
          </a:p>
        </p:txBody>
      </p:sp>
      <p:grpSp>
        <p:nvGrpSpPr>
          <p:cNvPr id="172" name="Google Shape;172;p18"/>
          <p:cNvGrpSpPr/>
          <p:nvPr/>
        </p:nvGrpSpPr>
        <p:grpSpPr>
          <a:xfrm>
            <a:off x="409575" y="895350"/>
            <a:ext cx="5524500" cy="3619500"/>
            <a:chOff x="409575" y="895350"/>
            <a:chExt cx="5524500" cy="3619500"/>
          </a:xfrm>
        </p:grpSpPr>
        <p:sp>
          <p:nvSpPr>
            <p:cNvPr id="173" name="Google Shape;173;p18"/>
            <p:cNvSpPr/>
            <p:nvPr/>
          </p:nvSpPr>
          <p:spPr>
            <a:xfrm>
              <a:off x="409575" y="895350"/>
              <a:ext cx="55245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18"/>
            <p:cNvSpPr txBox="1"/>
            <p:nvPr/>
          </p:nvSpPr>
          <p:spPr>
            <a:xfrm>
              <a:off x="600075" y="990600"/>
              <a:ext cx="5143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O arquivo README.md deve conter:</a:t>
              </a:r>
              <a:endParaRPr b="1" sz="14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5" name="Google Shape;175;p18"/>
            <p:cNvGrpSpPr/>
            <p:nvPr/>
          </p:nvGrpSpPr>
          <p:grpSpPr>
            <a:xfrm>
              <a:off x="600075" y="1381125"/>
              <a:ext cx="4924425" cy="2571900"/>
              <a:chOff x="600075" y="1381125"/>
              <a:chExt cx="4924425" cy="2571900"/>
            </a:xfrm>
          </p:grpSpPr>
          <p:grpSp>
            <p:nvGrpSpPr>
              <p:cNvPr id="176" name="Google Shape;176;p18"/>
              <p:cNvGrpSpPr/>
              <p:nvPr/>
            </p:nvGrpSpPr>
            <p:grpSpPr>
              <a:xfrm>
                <a:off x="600075" y="1381125"/>
                <a:ext cx="4924425" cy="285900"/>
                <a:chOff x="600075" y="1381125"/>
                <a:chExt cx="4924425" cy="285900"/>
              </a:xfrm>
            </p:grpSpPr>
            <p:sp>
              <p:nvSpPr>
                <p:cNvPr id="177" name="Google Shape;177;p18"/>
                <p:cNvSpPr txBox="1"/>
                <p:nvPr/>
              </p:nvSpPr>
              <p:spPr>
                <a:xfrm>
                  <a:off x="600075" y="1381125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400">
                      <a:latin typeface="Calibri"/>
                      <a:ea typeface="Calibri"/>
                      <a:cs typeface="Calibri"/>
                      <a:sym typeface="Calibri"/>
                    </a:rPr>
                    <a:t>🎯</a:t>
                  </a:r>
                  <a:endParaRPr sz="14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8" name="Google Shape;178;p18"/>
                <p:cNvSpPr txBox="1"/>
                <p:nvPr/>
              </p:nvSpPr>
              <p:spPr>
                <a:xfrm>
                  <a:off x="952500" y="1381125"/>
                  <a:ext cx="45720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pt-BR" sz="1100">
                      <a:solidFill>
                        <a:srgbClr val="004B87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Objetivo:</a:t>
                  </a:r>
                  <a:r>
                    <a:rPr lang="pt-BR" sz="110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do projeto/análise</a:t>
                  </a:r>
                  <a:endParaRPr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79" name="Google Shape;179;p18"/>
              <p:cNvGrpSpPr/>
              <p:nvPr/>
            </p:nvGrpSpPr>
            <p:grpSpPr>
              <a:xfrm>
                <a:off x="600075" y="1762125"/>
                <a:ext cx="4924425" cy="285900"/>
                <a:chOff x="600075" y="1762125"/>
                <a:chExt cx="4924425" cy="285900"/>
              </a:xfrm>
            </p:grpSpPr>
            <p:sp>
              <p:nvSpPr>
                <p:cNvPr id="180" name="Google Shape;180;p18"/>
                <p:cNvSpPr txBox="1"/>
                <p:nvPr/>
              </p:nvSpPr>
              <p:spPr>
                <a:xfrm>
                  <a:off x="600075" y="1762125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400">
                      <a:latin typeface="Calibri"/>
                      <a:ea typeface="Calibri"/>
                      <a:cs typeface="Calibri"/>
                      <a:sym typeface="Calibri"/>
                    </a:rPr>
                    <a:t>📊</a:t>
                  </a:r>
                  <a:endParaRPr sz="14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1" name="Google Shape;181;p18"/>
                <p:cNvSpPr txBox="1"/>
                <p:nvPr/>
              </p:nvSpPr>
              <p:spPr>
                <a:xfrm>
                  <a:off x="952500" y="1762125"/>
                  <a:ext cx="45720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pt-BR" sz="1100">
                      <a:solidFill>
                        <a:srgbClr val="004B87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Dados:</a:t>
                  </a:r>
                  <a:r>
                    <a:rPr lang="pt-BR" sz="110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origem, organismo, condições, réplicas</a:t>
                  </a:r>
                  <a:endParaRPr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2" name="Google Shape;182;p18"/>
              <p:cNvGrpSpPr/>
              <p:nvPr/>
            </p:nvGrpSpPr>
            <p:grpSpPr>
              <a:xfrm>
                <a:off x="600075" y="2143125"/>
                <a:ext cx="4924425" cy="285900"/>
                <a:chOff x="600075" y="2143125"/>
                <a:chExt cx="4924425" cy="285900"/>
              </a:xfrm>
            </p:grpSpPr>
            <p:sp>
              <p:nvSpPr>
                <p:cNvPr id="183" name="Google Shape;183;p18"/>
                <p:cNvSpPr txBox="1"/>
                <p:nvPr/>
              </p:nvSpPr>
              <p:spPr>
                <a:xfrm>
                  <a:off x="600075" y="2143125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400">
                      <a:latin typeface="Calibri"/>
                      <a:ea typeface="Calibri"/>
                      <a:cs typeface="Calibri"/>
                      <a:sym typeface="Calibri"/>
                    </a:rPr>
                    <a:t>🔧</a:t>
                  </a:r>
                  <a:endParaRPr sz="14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4" name="Google Shape;184;p18"/>
                <p:cNvSpPr txBox="1"/>
                <p:nvPr/>
              </p:nvSpPr>
              <p:spPr>
                <a:xfrm>
                  <a:off x="952500" y="2143125"/>
                  <a:ext cx="45720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pt-BR" sz="1100">
                      <a:solidFill>
                        <a:srgbClr val="004B87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Software e versões:</a:t>
                  </a:r>
                  <a:r>
                    <a:rPr lang="pt-BR" sz="110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usados</a:t>
                  </a:r>
                  <a:endParaRPr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5" name="Google Shape;185;p18"/>
              <p:cNvGrpSpPr/>
              <p:nvPr/>
            </p:nvGrpSpPr>
            <p:grpSpPr>
              <a:xfrm>
                <a:off x="600075" y="2524125"/>
                <a:ext cx="4924425" cy="285900"/>
                <a:chOff x="600075" y="2524125"/>
                <a:chExt cx="4924425" cy="285900"/>
              </a:xfrm>
            </p:grpSpPr>
            <p:sp>
              <p:nvSpPr>
                <p:cNvPr id="186" name="Google Shape;186;p18"/>
                <p:cNvSpPr txBox="1"/>
                <p:nvPr/>
              </p:nvSpPr>
              <p:spPr>
                <a:xfrm>
                  <a:off x="600075" y="2524125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400">
                      <a:latin typeface="Calibri"/>
                      <a:ea typeface="Calibri"/>
                      <a:cs typeface="Calibri"/>
                      <a:sym typeface="Calibri"/>
                    </a:rPr>
                    <a:t>📂</a:t>
                  </a:r>
                  <a:endParaRPr sz="14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7" name="Google Shape;187;p18"/>
                <p:cNvSpPr txBox="1"/>
                <p:nvPr/>
              </p:nvSpPr>
              <p:spPr>
                <a:xfrm>
                  <a:off x="952500" y="2524125"/>
                  <a:ext cx="45720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pt-BR" sz="1100">
                      <a:solidFill>
                        <a:srgbClr val="004B87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Estrutura:</a:t>
                  </a:r>
                  <a:r>
                    <a:rPr lang="pt-BR" sz="110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de diretórios (o que está onde)</a:t>
                  </a:r>
                  <a:endParaRPr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88" name="Google Shape;188;p18"/>
              <p:cNvGrpSpPr/>
              <p:nvPr/>
            </p:nvGrpSpPr>
            <p:grpSpPr>
              <a:xfrm>
                <a:off x="600075" y="2905125"/>
                <a:ext cx="4924425" cy="285900"/>
                <a:chOff x="600075" y="2905125"/>
                <a:chExt cx="4924425" cy="285900"/>
              </a:xfrm>
            </p:grpSpPr>
            <p:sp>
              <p:nvSpPr>
                <p:cNvPr id="189" name="Google Shape;189;p18"/>
                <p:cNvSpPr txBox="1"/>
                <p:nvPr/>
              </p:nvSpPr>
              <p:spPr>
                <a:xfrm>
                  <a:off x="600075" y="2905125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400">
                      <a:latin typeface="Calibri"/>
                      <a:ea typeface="Calibri"/>
                      <a:cs typeface="Calibri"/>
                      <a:sym typeface="Calibri"/>
                    </a:rPr>
                    <a:t>🏃</a:t>
                  </a:r>
                  <a:endParaRPr sz="14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18"/>
                <p:cNvSpPr txBox="1"/>
                <p:nvPr/>
              </p:nvSpPr>
              <p:spPr>
                <a:xfrm>
                  <a:off x="952500" y="2905125"/>
                  <a:ext cx="45720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pt-BR" sz="1100">
                      <a:solidFill>
                        <a:srgbClr val="004B87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Como reproduzir:</a:t>
                  </a:r>
                  <a:r>
                    <a:rPr lang="pt-BR" sz="110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sequência de comandos</a:t>
                  </a:r>
                  <a:endParaRPr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1" name="Google Shape;191;p18"/>
              <p:cNvGrpSpPr/>
              <p:nvPr/>
            </p:nvGrpSpPr>
            <p:grpSpPr>
              <a:xfrm>
                <a:off x="600075" y="3286125"/>
                <a:ext cx="4924425" cy="285900"/>
                <a:chOff x="600075" y="3286125"/>
                <a:chExt cx="4924425" cy="285900"/>
              </a:xfrm>
            </p:grpSpPr>
            <p:sp>
              <p:nvSpPr>
                <p:cNvPr id="192" name="Google Shape;192;p18"/>
                <p:cNvSpPr txBox="1"/>
                <p:nvPr/>
              </p:nvSpPr>
              <p:spPr>
                <a:xfrm>
                  <a:off x="600075" y="3286125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400">
                      <a:latin typeface="Calibri"/>
                      <a:ea typeface="Calibri"/>
                      <a:cs typeface="Calibri"/>
                      <a:sym typeface="Calibri"/>
                    </a:rPr>
                    <a:t>📅</a:t>
                  </a:r>
                  <a:endParaRPr sz="14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18"/>
                <p:cNvSpPr txBox="1"/>
                <p:nvPr/>
              </p:nvSpPr>
              <p:spPr>
                <a:xfrm>
                  <a:off x="952500" y="3286125"/>
                  <a:ext cx="45720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pt-BR" sz="1100">
                      <a:solidFill>
                        <a:srgbClr val="004B87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Data:</a:t>
                  </a:r>
                  <a:r>
                    <a:rPr lang="pt-BR" sz="110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da análise e responsável</a:t>
                  </a:r>
                  <a:endParaRPr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194" name="Google Shape;194;p18"/>
              <p:cNvGrpSpPr/>
              <p:nvPr/>
            </p:nvGrpSpPr>
            <p:grpSpPr>
              <a:xfrm>
                <a:off x="600075" y="3667125"/>
                <a:ext cx="4924425" cy="285900"/>
                <a:chOff x="600075" y="3667125"/>
                <a:chExt cx="4924425" cy="285900"/>
              </a:xfrm>
            </p:grpSpPr>
            <p:sp>
              <p:nvSpPr>
                <p:cNvPr id="195" name="Google Shape;195;p18"/>
                <p:cNvSpPr txBox="1"/>
                <p:nvPr/>
              </p:nvSpPr>
              <p:spPr>
                <a:xfrm>
                  <a:off x="600075" y="3667125"/>
                  <a:ext cx="2859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ctr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lang="pt-BR" sz="1400">
                      <a:latin typeface="Calibri"/>
                      <a:ea typeface="Calibri"/>
                      <a:cs typeface="Calibri"/>
                      <a:sym typeface="Calibri"/>
                    </a:rPr>
                    <a:t>📎</a:t>
                  </a:r>
                  <a:endParaRPr sz="1400"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18"/>
                <p:cNvSpPr txBox="1"/>
                <p:nvPr/>
              </p:nvSpPr>
              <p:spPr>
                <a:xfrm>
                  <a:off x="952500" y="3667125"/>
                  <a:ext cx="4572000" cy="2859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anchorCtr="0" anchor="ctr" bIns="0" lIns="0" spcFirstLastPara="1" rIns="0" wrap="square" tIns="0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rPr b="1" lang="pt-BR" sz="1100">
                      <a:solidFill>
                        <a:srgbClr val="004B87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Referências:</a:t>
                  </a:r>
                  <a:r>
                    <a:rPr lang="pt-BR" sz="1100">
                      <a:solidFill>
                        <a:srgbClr val="333333"/>
                      </a:solidFill>
                      <a:latin typeface="Calibri"/>
                      <a:ea typeface="Calibri"/>
                      <a:cs typeface="Calibri"/>
                      <a:sym typeface="Calibri"/>
                    </a:rPr>
                    <a:t> (papers, protocolos)</a:t>
                  </a:r>
                  <a:endParaRPr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grpSp>
        <p:nvGrpSpPr>
          <p:cNvPr id="197" name="Google Shape;197;p18"/>
          <p:cNvGrpSpPr/>
          <p:nvPr/>
        </p:nvGrpSpPr>
        <p:grpSpPr>
          <a:xfrm>
            <a:off x="6096000" y="895350"/>
            <a:ext cx="2667000" cy="3619425"/>
            <a:chOff x="6096000" y="895350"/>
            <a:chExt cx="2667000" cy="3619425"/>
          </a:xfrm>
        </p:grpSpPr>
        <p:sp>
          <p:nvSpPr>
            <p:cNvPr id="198" name="Google Shape;198;p18"/>
            <p:cNvSpPr/>
            <p:nvPr/>
          </p:nvSpPr>
          <p:spPr>
            <a:xfrm>
              <a:off x="6096000" y="895350"/>
              <a:ext cx="2667000" cy="1428900"/>
            </a:xfrm>
            <a:prstGeom prst="roundRect">
              <a:avLst>
                <a:gd fmla="val 8000" name="adj"/>
              </a:avLst>
            </a:prstGeom>
            <a:solidFill>
              <a:srgbClr val="FFFB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" name="Google Shape;199;p18"/>
            <p:cNvSpPr txBox="1"/>
            <p:nvPr/>
          </p:nvSpPr>
          <p:spPr>
            <a:xfrm>
              <a:off x="6238875" y="990600"/>
              <a:ext cx="2381400" cy="1238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050">
                  <a:solidFill>
                    <a:srgbClr val="B45309"/>
                  </a:solidFill>
                  <a:latin typeface="Calibri"/>
                  <a:ea typeface="Calibri"/>
                  <a:cs typeface="Calibri"/>
                  <a:sym typeface="Calibri"/>
                </a:rPr>
                <a:t>⚠️ Regra de ouro:</a:t>
              </a:r>
              <a:endParaRPr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800"/>
                </a:spcBef>
                <a:spcAft>
                  <a:spcPts val="0"/>
                </a:spcAft>
                <a:buNone/>
              </a:pP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Escreva o README como se fosse para alguém que nunca viu seu projeto — provavelmente será você em 6 meses.</a:t>
              </a:r>
              <a:endParaRPr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0" name="Google Shape;200;p18"/>
            <p:cNvSpPr/>
            <p:nvPr/>
          </p:nvSpPr>
          <p:spPr>
            <a:xfrm>
              <a:off x="6096000" y="2466975"/>
              <a:ext cx="2667000" cy="2047800"/>
            </a:xfrm>
            <a:prstGeom prst="roundRect">
              <a:avLst>
                <a:gd fmla="val 5581" name="adj"/>
              </a:avLst>
            </a:prstGeom>
            <a:solidFill>
              <a:srgbClr val="F0FDF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18"/>
            <p:cNvSpPr txBox="1"/>
            <p:nvPr/>
          </p:nvSpPr>
          <p:spPr>
            <a:xfrm>
              <a:off x="6238875" y="2562225"/>
              <a:ext cx="23814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50">
                  <a:solidFill>
                    <a:srgbClr val="15803D"/>
                  </a:solidFill>
                  <a:latin typeface="Calibri"/>
                  <a:ea typeface="Calibri"/>
                  <a:cs typeface="Calibri"/>
                  <a:sym typeface="Calibri"/>
                </a:rPr>
                <a:t>Reprodutibilidade</a:t>
              </a:r>
              <a:endParaRPr b="1" sz="1250">
                <a:solidFill>
                  <a:srgbClr val="15803D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2" name="Google Shape;202;p18"/>
            <p:cNvSpPr txBox="1"/>
            <p:nvPr/>
          </p:nvSpPr>
          <p:spPr>
            <a:xfrm>
              <a:off x="6238875" y="2943225"/>
              <a:ext cx="23814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29527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Calibri"/>
                <a:buChar char="●"/>
              </a:pPr>
              <a:r>
                <a:rPr lang="pt-BR" sz="1050">
                  <a:solidFill>
                    <a:srgbClr val="333333"/>
                  </a:solidFill>
                  <a:latin typeface="Consolas"/>
                  <a:ea typeface="Consolas"/>
                  <a:cs typeface="Consolas"/>
                  <a:sym typeface="Consolas"/>
                </a:rPr>
                <a:t>sessionInfo()</a:t>
              </a: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no final</a:t>
              </a:r>
              <a:endParaRPr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Calibri"/>
                <a:buChar char="●"/>
              </a:pP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Nunca altere dados brutos</a:t>
              </a:r>
              <a:endParaRPr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Calibri"/>
                <a:buChar char="●"/>
              </a:pP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Salve objetos (.rds)</a:t>
              </a:r>
              <a:endParaRPr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Calibri"/>
                <a:buChar char="●"/>
              </a:pP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Caminhos relativos</a:t>
              </a:r>
              <a:endParaRPr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5275" lvl="0" marL="457200" rtl="0" algn="l">
                <a:spcBef>
                  <a:spcPts val="800"/>
                </a:spcBef>
                <a:spcAft>
                  <a:spcPts val="0"/>
                </a:spcAft>
                <a:buClr>
                  <a:srgbClr val="333333"/>
                </a:buClr>
                <a:buSzPts val="1050"/>
                <a:buFont typeface="Calibri"/>
                <a:buChar char="●"/>
              </a:pP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Versione com Git</a:t>
              </a:r>
              <a:endParaRPr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3" name="Google Shape;203;p18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9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9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9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sz="1100"/>
          </a:p>
        </p:txBody>
      </p:sp>
      <p:sp>
        <p:nvSpPr>
          <p:cNvPr id="211" name="Google Shape;211;p19"/>
          <p:cNvSpPr txBox="1"/>
          <p:nvPr/>
        </p:nvSpPr>
        <p:spPr>
          <a:xfrm>
            <a:off x="411480" y="274320"/>
            <a:ext cx="8229600" cy="392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1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⚙️  Ambientes e Controle de Versão</a:t>
            </a:r>
            <a:endParaRPr sz="1100"/>
          </a:p>
        </p:txBody>
      </p:sp>
      <p:sp>
        <p:nvSpPr>
          <p:cNvPr id="212" name="Google Shape;212;p19"/>
          <p:cNvSpPr txBox="1"/>
          <p:nvPr/>
        </p:nvSpPr>
        <p:spPr>
          <a:xfrm>
            <a:off x="411480" y="960120"/>
            <a:ext cx="40482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Controle de Versão na Ciência de Dados</a:t>
            </a:r>
            <a:endParaRPr b="1" sz="16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9"/>
          <p:cNvSpPr txBox="1"/>
          <p:nvPr/>
        </p:nvSpPr>
        <p:spPr>
          <a:xfrm>
            <a:off x="506730" y="1381125"/>
            <a:ext cx="3905400" cy="25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18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Git </a:t>
            </a:r>
            <a:r>
              <a:rPr b="0" lang="pt-BR" sz="1018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é o sistema que rastreia mudanças no seu código ao longo do tempo.</a:t>
            </a:r>
            <a:endParaRPr b="1" sz="1018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9"/>
          <p:cNvSpPr txBox="1"/>
          <p:nvPr/>
        </p:nvSpPr>
        <p:spPr>
          <a:xfrm>
            <a:off x="506730" y="1857375"/>
            <a:ext cx="3905400" cy="1573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spAutoFit/>
          </a:bodyPr>
          <a:lstStyle/>
          <a:p>
            <a:pPr indent="-295275" lvl="0" marL="457200" rtl="0" algn="l">
              <a:spcBef>
                <a:spcPts val="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Char char="●"/>
            </a:pPr>
            <a:r>
              <a:rPr b="1"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Reversão:</a:t>
            </a:r>
            <a:r>
              <a:rPr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Volte para versões anteriores se algo quebrar.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spcBef>
                <a:spcPts val="90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Char char="●"/>
            </a:pPr>
            <a:r>
              <a:rPr b="1"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Rastreabilidade:</a:t>
            </a:r>
            <a:r>
              <a:rPr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Saiba exatamente qual versão gerou qual resultado.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spcBef>
                <a:spcPts val="90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Char char="●"/>
            </a:pPr>
            <a:r>
              <a:rPr b="1"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Colaboração:</a:t>
            </a:r>
            <a:r>
              <a:rPr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Edição simultânea sem sobrescrever o trabalho alheio.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spcBef>
                <a:spcPts val="900"/>
              </a:spcBef>
              <a:spcAft>
                <a:spcPts val="0"/>
              </a:spcAft>
              <a:buClr>
                <a:srgbClr val="B91C1C"/>
              </a:buClr>
              <a:buSzPts val="1050"/>
              <a:buFont typeface="Calibri"/>
              <a:buChar char="●"/>
            </a:pPr>
            <a:r>
              <a:rPr b="1" lang="pt-BR" sz="1050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Aviso:</a:t>
            </a:r>
            <a:r>
              <a:rPr lang="pt-BR" sz="1050">
                <a:solidFill>
                  <a:srgbClr val="B91C1C"/>
                </a:solidFill>
                <a:latin typeface="Calibri"/>
                <a:ea typeface="Calibri"/>
                <a:cs typeface="Calibri"/>
                <a:sym typeface="Calibri"/>
              </a:rPr>
              <a:t> NÃO versione arquivos grandes (FASTQ, BAM), dados brutos ou senhas. Use o .gitignore!</a:t>
            </a:r>
            <a:endParaRPr sz="1050">
              <a:solidFill>
                <a:srgbClr val="B91C1C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9"/>
          <p:cNvSpPr txBox="1"/>
          <p:nvPr/>
        </p:nvSpPr>
        <p:spPr>
          <a:xfrm>
            <a:off x="4682490" y="960120"/>
            <a:ext cx="4048200" cy="246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9525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6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Ambientes e Isolamento</a:t>
            </a:r>
            <a:endParaRPr b="1" sz="16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9"/>
          <p:cNvSpPr txBox="1"/>
          <p:nvPr/>
        </p:nvSpPr>
        <p:spPr>
          <a:xfrm>
            <a:off x="4777740" y="1381125"/>
            <a:ext cx="3905100" cy="22029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47625" lIns="47625" spcFirstLastPara="1" rIns="47625" wrap="square" tIns="476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0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O Problema: </a:t>
            </a:r>
            <a:r>
              <a:rPr b="0" lang="pt-BR" sz="105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Scripts quebram quando ferramentas atualizam (ex: DESeq2 v1.38 vs v1.42).</a:t>
            </a:r>
            <a:endParaRPr b="1" sz="105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b="1"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Solução:</a:t>
            </a:r>
            <a:r>
              <a:rPr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Criar "bolhas" computacionais (isolamento) para cada projeto.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b="1"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Conda:</a:t>
            </a:r>
            <a:r>
              <a:rPr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Padrão na bioinformática. Gerencia pacotes (Python/R) e softwares externos (STAR).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5275" lvl="0" marL="457200" rtl="0" algn="l">
              <a:spcBef>
                <a:spcPts val="900"/>
              </a:spcBef>
              <a:spcAft>
                <a:spcPts val="0"/>
              </a:spcAft>
              <a:buClr>
                <a:srgbClr val="334155"/>
              </a:buClr>
              <a:buSzPts val="1050"/>
              <a:buFont typeface="Calibri"/>
              <a:buChar char="●"/>
            </a:pPr>
            <a:r>
              <a:rPr b="1"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renv:</a:t>
            </a:r>
            <a:r>
              <a:rPr lang="pt-BR" sz="10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rPr>
              <a:t> Foco no ecossistema R. Congela a versão exata de cada pacote.</a:t>
            </a:r>
            <a:endParaRPr sz="1050">
              <a:solidFill>
                <a:srgbClr val="334155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1125"/>
              </a:spcBef>
              <a:spcAft>
                <a:spcPts val="0"/>
              </a:spcAft>
              <a:buNone/>
            </a:pPr>
            <a:r>
              <a:rPr b="1" lang="pt-BR" sz="1050">
                <a:solidFill>
                  <a:srgbClr val="004B87"/>
                </a:solidFill>
                <a:highlight>
                  <a:srgbClr val="F0F9FF"/>
                </a:highlight>
                <a:latin typeface="Calibri"/>
                <a:ea typeface="Calibri"/>
                <a:cs typeface="Calibri"/>
                <a:sym typeface="Calibri"/>
              </a:rPr>
              <a:t>Git (Código) + Conda/renv (Ferramentas) </a:t>
            </a:r>
            <a:br>
              <a:rPr b="1" lang="pt-BR" sz="1050">
                <a:solidFill>
                  <a:srgbClr val="004B87"/>
                </a:solidFill>
                <a:highlight>
                  <a:srgbClr val="F0F9FF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1050">
                <a:solidFill>
                  <a:srgbClr val="004B87"/>
                </a:solidFill>
                <a:highlight>
                  <a:srgbClr val="F0F9FF"/>
                </a:highlight>
                <a:latin typeface="Calibri"/>
                <a:ea typeface="Calibri"/>
                <a:cs typeface="Calibri"/>
                <a:sym typeface="Calibri"/>
              </a:rPr>
              <a:t>= 100% Reprodutibilidade</a:t>
            </a:r>
            <a:endParaRPr b="1" sz="1050">
              <a:solidFill>
                <a:srgbClr val="004B87"/>
              </a:solidFill>
              <a:highlight>
                <a:srgbClr val="F0F9FF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9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0"/>
          <p:cNvSpPr/>
          <p:nvPr/>
        </p:nvSpPr>
        <p:spPr>
          <a:xfrm>
            <a:off x="0" y="0"/>
            <a:ext cx="2400300" cy="82296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2400300" y="0"/>
            <a:ext cx="6743471" cy="82296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 txBox="1"/>
          <p:nvPr/>
        </p:nvSpPr>
        <p:spPr>
          <a:xfrm>
            <a:off x="685800" y="10287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🔄</a:t>
            </a:r>
            <a:endParaRPr sz="1100"/>
          </a:p>
        </p:txBody>
      </p:sp>
      <p:sp>
        <p:nvSpPr>
          <p:cNvPr id="225" name="Google Shape;225;p20"/>
          <p:cNvSpPr txBox="1"/>
          <p:nvPr/>
        </p:nvSpPr>
        <p:spPr>
          <a:xfrm>
            <a:off x="685800" y="192024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Revisão do Pipeline</a:t>
            </a:r>
            <a:endParaRPr sz="1100"/>
          </a:p>
        </p:txBody>
      </p:sp>
      <p:sp>
        <p:nvSpPr>
          <p:cNvPr id="226" name="Google Shape;226;p20"/>
          <p:cNvSpPr txBox="1"/>
          <p:nvPr/>
        </p:nvSpPr>
        <p:spPr>
          <a:xfrm>
            <a:off x="685800" y="260604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De onde viemos e para onde vamos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/>
          </a:p>
        </p:txBody>
      </p:sp>
      <p:sp>
        <p:nvSpPr>
          <p:cNvPr id="234" name="Google Shape;234;p21"/>
          <p:cNvSpPr txBox="1"/>
          <p:nvPr/>
        </p:nvSpPr>
        <p:spPr>
          <a:xfrm>
            <a:off x="411480" y="274320"/>
            <a:ext cx="8229600" cy="4311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🗺️ O Pipeline de RNA-seq</a:t>
            </a:r>
            <a:endParaRPr b="1" sz="2800">
              <a:solidFill>
                <a:srgbClr val="1E293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5" name="Google Shape;235;p21"/>
          <p:cNvGrpSpPr/>
          <p:nvPr/>
        </p:nvGrpSpPr>
        <p:grpSpPr>
          <a:xfrm>
            <a:off x="190500" y="1562100"/>
            <a:ext cx="8401050" cy="771525"/>
            <a:chOff x="190500" y="1562100"/>
            <a:chExt cx="8401050" cy="771525"/>
          </a:xfrm>
        </p:grpSpPr>
        <p:pic>
          <p:nvPicPr>
            <p:cNvPr id="236" name="Google Shape;236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52450" y="1695450"/>
              <a:ext cx="8039100" cy="38100"/>
            </a:xfrm>
            <a:prstGeom prst="rect">
              <a:avLst/>
            </a:prstGeom>
            <a:noFill/>
            <a:ln>
              <a:noFill/>
            </a:ln>
          </p:spPr>
        </p:pic>
        <p:grpSp>
          <p:nvGrpSpPr>
            <p:cNvPr id="237" name="Google Shape;237;p21"/>
            <p:cNvGrpSpPr/>
            <p:nvPr/>
          </p:nvGrpSpPr>
          <p:grpSpPr>
            <a:xfrm>
              <a:off x="190500" y="1600200"/>
              <a:ext cx="762000" cy="685800"/>
              <a:chOff x="-381000" y="266700"/>
              <a:chExt cx="762000" cy="685800"/>
            </a:xfrm>
          </p:grpSpPr>
          <p:sp>
            <p:nvSpPr>
              <p:cNvPr id="238" name="Google Shape;238;p21"/>
              <p:cNvSpPr/>
              <p:nvPr/>
            </p:nvSpPr>
            <p:spPr>
              <a:xfrm>
                <a:off x="-114300" y="266700"/>
                <a:ext cx="228600" cy="2286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9" name="Google Shape;239;p21"/>
              <p:cNvSpPr txBox="1"/>
              <p:nvPr/>
            </p:nvSpPr>
            <p:spPr>
              <a:xfrm>
                <a:off x="-381000" y="57150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0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FASTQ</a:t>
                </a:r>
                <a:endParaRPr b="1" sz="10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0" name="Google Shape;240;p21"/>
            <p:cNvGrpSpPr/>
            <p:nvPr/>
          </p:nvGrpSpPr>
          <p:grpSpPr>
            <a:xfrm>
              <a:off x="1333500" y="1600200"/>
              <a:ext cx="762000" cy="685800"/>
              <a:chOff x="-381000" y="266700"/>
              <a:chExt cx="762000" cy="685800"/>
            </a:xfrm>
          </p:grpSpPr>
          <p:sp>
            <p:nvSpPr>
              <p:cNvPr id="241" name="Google Shape;241;p21"/>
              <p:cNvSpPr/>
              <p:nvPr/>
            </p:nvSpPr>
            <p:spPr>
              <a:xfrm>
                <a:off x="-114300" y="266700"/>
                <a:ext cx="228600" cy="2286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21"/>
              <p:cNvSpPr txBox="1"/>
              <p:nvPr/>
            </p:nvSpPr>
            <p:spPr>
              <a:xfrm>
                <a:off x="-381000" y="57150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0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QC</a:t>
                </a:r>
                <a:endParaRPr b="1" sz="10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3" name="Google Shape;243;p21"/>
            <p:cNvGrpSpPr/>
            <p:nvPr/>
          </p:nvGrpSpPr>
          <p:grpSpPr>
            <a:xfrm>
              <a:off x="2476500" y="1600200"/>
              <a:ext cx="762000" cy="685800"/>
              <a:chOff x="-381000" y="266700"/>
              <a:chExt cx="762000" cy="685800"/>
            </a:xfrm>
          </p:grpSpPr>
          <p:sp>
            <p:nvSpPr>
              <p:cNvPr id="244" name="Google Shape;244;p21"/>
              <p:cNvSpPr/>
              <p:nvPr/>
            </p:nvSpPr>
            <p:spPr>
              <a:xfrm>
                <a:off x="-114300" y="266700"/>
                <a:ext cx="228600" cy="2286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21"/>
              <p:cNvSpPr txBox="1"/>
              <p:nvPr/>
            </p:nvSpPr>
            <p:spPr>
              <a:xfrm>
                <a:off x="-381000" y="57150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0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Trimming</a:t>
                </a:r>
                <a:endParaRPr b="1" sz="10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6" name="Google Shape;246;p21"/>
            <p:cNvGrpSpPr/>
            <p:nvPr/>
          </p:nvGrpSpPr>
          <p:grpSpPr>
            <a:xfrm>
              <a:off x="3619500" y="1600200"/>
              <a:ext cx="762000" cy="685800"/>
              <a:chOff x="-381000" y="266700"/>
              <a:chExt cx="762000" cy="685800"/>
            </a:xfrm>
          </p:grpSpPr>
          <p:sp>
            <p:nvSpPr>
              <p:cNvPr id="247" name="Google Shape;247;p21"/>
              <p:cNvSpPr/>
              <p:nvPr/>
            </p:nvSpPr>
            <p:spPr>
              <a:xfrm>
                <a:off x="-114300" y="266700"/>
                <a:ext cx="228600" cy="2286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21"/>
              <p:cNvSpPr txBox="1"/>
              <p:nvPr/>
            </p:nvSpPr>
            <p:spPr>
              <a:xfrm>
                <a:off x="-381000" y="57150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0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Mapeamento</a:t>
                </a:r>
                <a:endParaRPr b="1" sz="10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49" name="Google Shape;249;p21"/>
            <p:cNvGrpSpPr/>
            <p:nvPr/>
          </p:nvGrpSpPr>
          <p:grpSpPr>
            <a:xfrm>
              <a:off x="4762500" y="1600200"/>
              <a:ext cx="762000" cy="685800"/>
              <a:chOff x="-381000" y="266700"/>
              <a:chExt cx="762000" cy="685800"/>
            </a:xfrm>
          </p:grpSpPr>
          <p:sp>
            <p:nvSpPr>
              <p:cNvPr id="250" name="Google Shape;250;p21"/>
              <p:cNvSpPr/>
              <p:nvPr/>
            </p:nvSpPr>
            <p:spPr>
              <a:xfrm>
                <a:off x="-114300" y="266700"/>
                <a:ext cx="228600" cy="228600"/>
              </a:xfrm>
              <a:prstGeom prst="ellipse">
                <a:avLst/>
              </a:prstGeom>
              <a:solidFill>
                <a:srgbClr val="2E7D3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21"/>
              <p:cNvSpPr txBox="1"/>
              <p:nvPr/>
            </p:nvSpPr>
            <p:spPr>
              <a:xfrm>
                <a:off x="-381000" y="571500"/>
                <a:ext cx="762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0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Contagens</a:t>
                </a:r>
                <a:endParaRPr b="1" sz="10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2" name="Google Shape;252;p21"/>
            <p:cNvGrpSpPr/>
            <p:nvPr/>
          </p:nvGrpSpPr>
          <p:grpSpPr>
            <a:xfrm>
              <a:off x="5715000" y="1562100"/>
              <a:ext cx="1143000" cy="771525"/>
              <a:chOff x="-571500" y="228600"/>
              <a:chExt cx="1143000" cy="771525"/>
            </a:xfrm>
          </p:grpSpPr>
          <p:sp>
            <p:nvSpPr>
              <p:cNvPr id="253" name="Google Shape;253;p21"/>
              <p:cNvSpPr/>
              <p:nvPr/>
            </p:nvSpPr>
            <p:spPr>
              <a:xfrm>
                <a:off x="-152400" y="228600"/>
                <a:ext cx="304800" cy="304800"/>
              </a:xfrm>
              <a:prstGeom prst="ellipse">
                <a:avLst/>
              </a:prstGeom>
              <a:solidFill>
                <a:srgbClr val="005596"/>
              </a:solidFill>
              <a:ln cap="flat" cmpd="sng" w="38100">
                <a:solidFill>
                  <a:srgbClr val="F6F4E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4" name="Google Shape;254;p21"/>
              <p:cNvSpPr txBox="1"/>
              <p:nvPr/>
            </p:nvSpPr>
            <p:spPr>
              <a:xfrm>
                <a:off x="-571500" y="619125"/>
                <a:ext cx="1143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00559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Expr. Diferencial</a:t>
                </a:r>
                <a:endParaRPr b="1" sz="11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55" name="Google Shape;255;p21"/>
            <p:cNvGrpSpPr/>
            <p:nvPr/>
          </p:nvGrpSpPr>
          <p:grpSpPr>
            <a:xfrm>
              <a:off x="7096125" y="1562100"/>
              <a:ext cx="1238400" cy="771525"/>
              <a:chOff x="-619125" y="228600"/>
              <a:chExt cx="1238400" cy="771525"/>
            </a:xfrm>
          </p:grpSpPr>
          <p:sp>
            <p:nvSpPr>
              <p:cNvPr id="256" name="Google Shape;256;p21"/>
              <p:cNvSpPr/>
              <p:nvPr/>
            </p:nvSpPr>
            <p:spPr>
              <a:xfrm>
                <a:off x="-152400" y="228600"/>
                <a:ext cx="304800" cy="304800"/>
              </a:xfrm>
              <a:prstGeom prst="ellipse">
                <a:avLst/>
              </a:prstGeom>
              <a:solidFill>
                <a:srgbClr val="6A1B9A"/>
              </a:solidFill>
              <a:ln cap="flat" cmpd="sng" w="38100">
                <a:solidFill>
                  <a:srgbClr val="F6F4EE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21"/>
              <p:cNvSpPr txBox="1"/>
              <p:nvPr/>
            </p:nvSpPr>
            <p:spPr>
              <a:xfrm>
                <a:off x="-619125" y="619125"/>
                <a:ext cx="12384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6A1B9A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Enriquecimento</a:t>
                </a:r>
                <a:endParaRPr b="1" sz="1100">
                  <a:solidFill>
                    <a:srgbClr val="6A1B9A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258" name="Google Shape;258;p21"/>
          <p:cNvGrpSpPr/>
          <p:nvPr/>
        </p:nvGrpSpPr>
        <p:grpSpPr>
          <a:xfrm>
            <a:off x="571500" y="2857500"/>
            <a:ext cx="8001000" cy="952500"/>
            <a:chOff x="571500" y="2857500"/>
            <a:chExt cx="8001000" cy="952500"/>
          </a:xfrm>
        </p:grpSpPr>
        <p:sp>
          <p:nvSpPr>
            <p:cNvPr id="259" name="Google Shape;259;p21"/>
            <p:cNvSpPr/>
            <p:nvPr/>
          </p:nvSpPr>
          <p:spPr>
            <a:xfrm>
              <a:off x="571500" y="2857500"/>
              <a:ext cx="3810000" cy="952500"/>
            </a:xfrm>
            <a:prstGeom prst="roundRect">
              <a:avLst>
                <a:gd fmla="val 12000" name="adj"/>
              </a:avLst>
            </a:prstGeom>
            <a:solidFill>
              <a:srgbClr val="F0FDF4"/>
            </a:solidFill>
            <a:ln cap="flat" cmpd="sng" w="9525">
              <a:solidFill>
                <a:srgbClr val="D1FAE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1"/>
            <p:cNvSpPr txBox="1"/>
            <p:nvPr/>
          </p:nvSpPr>
          <p:spPr>
            <a:xfrm>
              <a:off x="714375" y="2952750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65F46"/>
                  </a:solidFill>
                  <a:latin typeface="Calibri"/>
                  <a:ea typeface="Calibri"/>
                  <a:cs typeface="Calibri"/>
                  <a:sym typeface="Calibri"/>
                </a:rPr>
                <a:t>✅ Etapas Concluídas</a:t>
              </a:r>
              <a:endParaRPr b="1" sz="1200">
                <a:solidFill>
                  <a:srgbClr val="065F4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064E3B"/>
                  </a:solidFill>
                  <a:latin typeface="Calibri"/>
                  <a:ea typeface="Calibri"/>
                  <a:cs typeface="Calibri"/>
                  <a:sym typeface="Calibri"/>
                </a:rPr>
                <a:t>QC → Trimming → STAR → featureCounts</a:t>
              </a:r>
              <a:endParaRPr sz="1100">
                <a:solidFill>
                  <a:srgbClr val="064E3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1" name="Google Shape;261;p21"/>
            <p:cNvSpPr/>
            <p:nvPr/>
          </p:nvSpPr>
          <p:spPr>
            <a:xfrm>
              <a:off x="4762500" y="2857500"/>
              <a:ext cx="3810000" cy="952500"/>
            </a:xfrm>
            <a:prstGeom prst="roundRect">
              <a:avLst>
                <a:gd fmla="val 12000" name="adj"/>
              </a:avLst>
            </a:prstGeom>
            <a:solidFill>
              <a:srgbClr val="F0F9FF"/>
            </a:solidFill>
            <a:ln cap="flat" cmpd="sng" w="9525">
              <a:solidFill>
                <a:srgbClr val="E0F2F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" name="Google Shape;262;p21"/>
            <p:cNvSpPr txBox="1"/>
            <p:nvPr/>
          </p:nvSpPr>
          <p:spPr>
            <a:xfrm>
              <a:off x="4905375" y="2952750"/>
              <a:ext cx="35244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75985"/>
                  </a:solidFill>
                  <a:latin typeface="Calibri"/>
                  <a:ea typeface="Calibri"/>
                  <a:cs typeface="Calibri"/>
                  <a:sym typeface="Calibri"/>
                </a:rPr>
                <a:t>📌 Objetivos de Hoje</a:t>
              </a:r>
              <a:endParaRPr b="1" sz="1200">
                <a:solidFill>
                  <a:srgbClr val="07598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0C4A6E"/>
                  </a:solidFill>
                  <a:latin typeface="Calibri"/>
                  <a:ea typeface="Calibri"/>
                  <a:cs typeface="Calibri"/>
                  <a:sym typeface="Calibri"/>
                </a:rPr>
                <a:t>Expressão Diferencial + Enriquecimento Funcional</a:t>
              </a:r>
              <a:endParaRPr sz="1100">
                <a:solidFill>
                  <a:srgbClr val="0C4A6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p21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8" name="Google Shape;268;p22"/>
          <p:cNvGrpSpPr/>
          <p:nvPr/>
        </p:nvGrpSpPr>
        <p:grpSpPr>
          <a:xfrm>
            <a:off x="0" y="0"/>
            <a:ext cx="9143700" cy="754320"/>
            <a:chOff x="0" y="0"/>
            <a:chExt cx="9143700" cy="754320"/>
          </a:xfrm>
        </p:grpSpPr>
        <p:sp>
          <p:nvSpPr>
            <p:cNvPr id="269" name="Google Shape;269;p22"/>
            <p:cNvSpPr/>
            <p:nvPr/>
          </p:nvSpPr>
          <p:spPr>
            <a:xfrm>
              <a:off x="0" y="0"/>
              <a:ext cx="2400300" cy="82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22"/>
            <p:cNvSpPr/>
            <p:nvPr/>
          </p:nvSpPr>
          <p:spPr>
            <a:xfrm>
              <a:off x="2400300" y="0"/>
              <a:ext cx="6743400" cy="82200"/>
            </a:xfrm>
            <a:prstGeom prst="rect">
              <a:avLst/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" name="Google Shape;271;p22"/>
            <p:cNvSpPr txBox="1"/>
            <p:nvPr/>
          </p:nvSpPr>
          <p:spPr>
            <a:xfrm>
              <a:off x="274320" y="171450"/>
              <a:ext cx="342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b="1" sz="8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2" name="Google Shape;272;p22"/>
            <p:cNvSpPr txBox="1"/>
            <p:nvPr/>
          </p:nvSpPr>
          <p:spPr>
            <a:xfrm>
              <a:off x="411480" y="274320"/>
              <a:ext cx="8229600" cy="4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300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🔍 QC — O que verificamos?</a:t>
              </a:r>
              <a:endParaRPr b="1" sz="2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3" name="Google Shape;273;p22"/>
          <p:cNvGrpSpPr/>
          <p:nvPr/>
        </p:nvGrpSpPr>
        <p:grpSpPr>
          <a:xfrm>
            <a:off x="476250" y="1047750"/>
            <a:ext cx="3810000" cy="3238500"/>
            <a:chOff x="476250" y="1047750"/>
            <a:chExt cx="3810000" cy="3238500"/>
          </a:xfrm>
        </p:grpSpPr>
        <p:sp>
          <p:nvSpPr>
            <p:cNvPr id="274" name="Google Shape;274;p22"/>
            <p:cNvSpPr/>
            <p:nvPr/>
          </p:nvSpPr>
          <p:spPr>
            <a:xfrm>
              <a:off x="476250" y="1047750"/>
              <a:ext cx="3810000" cy="32385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2"/>
            <p:cNvSpPr/>
            <p:nvPr/>
          </p:nvSpPr>
          <p:spPr>
            <a:xfrm>
              <a:off x="476250" y="1047750"/>
              <a:ext cx="3810000" cy="476400"/>
            </a:xfrm>
            <a:prstGeom prst="roundRect">
              <a:avLst>
                <a:gd fmla="val 4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2"/>
            <p:cNvSpPr/>
            <p:nvPr/>
          </p:nvSpPr>
          <p:spPr>
            <a:xfrm>
              <a:off x="476250" y="1285875"/>
              <a:ext cx="3810000" cy="238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22"/>
            <p:cNvSpPr txBox="1"/>
            <p:nvPr/>
          </p:nvSpPr>
          <p:spPr>
            <a:xfrm>
              <a:off x="666750" y="1047750"/>
              <a:ext cx="3429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FastQC / MultiQC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8" name="Google Shape;278;p22"/>
            <p:cNvSpPr txBox="1"/>
            <p:nvPr/>
          </p:nvSpPr>
          <p:spPr>
            <a:xfrm>
              <a:off x="666750" y="1619250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16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Phred Score ≥ 30 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por base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Conteúdo GC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— distribuição esperada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Adaptadores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— presença de Illumina adapters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Duplicatas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— níveis de duplicação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Sequências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super-representadas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9" name="Google Shape;279;p22"/>
          <p:cNvGrpSpPr/>
          <p:nvPr/>
        </p:nvGrpSpPr>
        <p:grpSpPr>
          <a:xfrm>
            <a:off x="4857750" y="1047750"/>
            <a:ext cx="3810000" cy="3238500"/>
            <a:chOff x="4857750" y="1047750"/>
            <a:chExt cx="3810000" cy="3238500"/>
          </a:xfrm>
        </p:grpSpPr>
        <p:sp>
          <p:nvSpPr>
            <p:cNvPr id="280" name="Google Shape;280;p22"/>
            <p:cNvSpPr/>
            <p:nvPr/>
          </p:nvSpPr>
          <p:spPr>
            <a:xfrm>
              <a:off x="4857750" y="1047750"/>
              <a:ext cx="3810000" cy="32385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22"/>
            <p:cNvSpPr/>
            <p:nvPr/>
          </p:nvSpPr>
          <p:spPr>
            <a:xfrm>
              <a:off x="4857750" y="1047750"/>
              <a:ext cx="3810000" cy="476400"/>
            </a:xfrm>
            <a:prstGeom prst="roundRect">
              <a:avLst>
                <a:gd fmla="val 40000" name="adj"/>
              </a:avLst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" name="Google Shape;282;p22"/>
            <p:cNvSpPr/>
            <p:nvPr/>
          </p:nvSpPr>
          <p:spPr>
            <a:xfrm>
              <a:off x="4857750" y="1285875"/>
              <a:ext cx="3810000" cy="238200"/>
            </a:xfrm>
            <a:prstGeom prst="rect">
              <a:avLst/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22"/>
            <p:cNvSpPr txBox="1"/>
            <p:nvPr/>
          </p:nvSpPr>
          <p:spPr>
            <a:xfrm>
              <a:off x="5048250" y="1047750"/>
              <a:ext cx="3429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Após Trimming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4" name="Google Shape;284;p22"/>
            <p:cNvSpPr txBox="1"/>
            <p:nvPr/>
          </p:nvSpPr>
          <p:spPr>
            <a:xfrm>
              <a:off x="5048250" y="1619250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16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Remoção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de adaptadores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Corte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de bases de baixa qualidade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Filtro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de reads muito curtas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Comparar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relatórios antes/depois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85" name="Google Shape;285;p22"/>
          <p:cNvSpPr txBox="1"/>
          <p:nvPr/>
        </p:nvSpPr>
        <p:spPr>
          <a:xfrm>
            <a:off x="0" y="4762500"/>
            <a:ext cx="9144000" cy="10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b="0" sz="7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3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23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23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/>
          </a:p>
        </p:txBody>
      </p:sp>
      <p:sp>
        <p:nvSpPr>
          <p:cNvPr id="293" name="Google Shape;293;p23"/>
          <p:cNvSpPr txBox="1"/>
          <p:nvPr/>
        </p:nvSpPr>
        <p:spPr>
          <a:xfrm>
            <a:off x="411480" y="274320"/>
            <a:ext cx="8229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🧭  STAR — Mapeamento ao Genoma</a:t>
            </a:r>
            <a:endParaRPr sz="1100"/>
          </a:p>
        </p:txBody>
      </p:sp>
      <p:grpSp>
        <p:nvGrpSpPr>
          <p:cNvPr id="294" name="Google Shape;294;p23"/>
          <p:cNvGrpSpPr/>
          <p:nvPr/>
        </p:nvGrpSpPr>
        <p:grpSpPr>
          <a:xfrm>
            <a:off x="476250" y="1047750"/>
            <a:ext cx="5048400" cy="3238500"/>
            <a:chOff x="476250" y="1047750"/>
            <a:chExt cx="5048400" cy="3238500"/>
          </a:xfrm>
        </p:grpSpPr>
        <p:sp>
          <p:nvSpPr>
            <p:cNvPr id="295" name="Google Shape;295;p23"/>
            <p:cNvSpPr/>
            <p:nvPr/>
          </p:nvSpPr>
          <p:spPr>
            <a:xfrm>
              <a:off x="476250" y="1047750"/>
              <a:ext cx="5048400" cy="32385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23"/>
            <p:cNvSpPr/>
            <p:nvPr/>
          </p:nvSpPr>
          <p:spPr>
            <a:xfrm>
              <a:off x="476250" y="1047750"/>
              <a:ext cx="5048400" cy="476400"/>
            </a:xfrm>
            <a:prstGeom prst="roundRect">
              <a:avLst>
                <a:gd fmla="val 4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23"/>
            <p:cNvSpPr/>
            <p:nvPr/>
          </p:nvSpPr>
          <p:spPr>
            <a:xfrm>
              <a:off x="476250" y="1285875"/>
              <a:ext cx="5048400" cy="238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" name="Google Shape;298;p23"/>
            <p:cNvSpPr txBox="1"/>
            <p:nvPr/>
          </p:nvSpPr>
          <p:spPr>
            <a:xfrm>
              <a:off x="666750" y="1047750"/>
              <a:ext cx="46674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Visão Geral do STAR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9" name="Google Shape;299;p23"/>
            <p:cNvSpPr txBox="1"/>
            <p:nvPr/>
          </p:nvSpPr>
          <p:spPr>
            <a:xfrm>
              <a:off x="666750" y="1619250"/>
              <a:ext cx="46674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STAR = Spliced Transcripts Alignment to a Reference</a:t>
              </a:r>
              <a:endParaRPr b="1" sz="115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1150">
                  <a:solidFill>
                    <a:srgbClr val="DEA022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1" lang="pt-BR" sz="115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Splice-aware: </a:t>
              </a:r>
              <a:r>
                <a:rPr b="0"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reconhece junções éxon-éxon</a:t>
              </a:r>
              <a:endParaRPr b="1" sz="115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1150">
                  <a:solidFill>
                    <a:srgbClr val="DEA022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1" lang="pt-BR" sz="115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Duas etapas: </a:t>
              </a:r>
              <a:r>
                <a:rPr b="0"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indexação do genoma + mapeamento das reads</a:t>
              </a:r>
              <a:endParaRPr b="1" sz="115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1" lang="pt-BR" sz="1150">
                  <a:solidFill>
                    <a:srgbClr val="DEA022"/>
                  </a:solidFill>
                  <a:latin typeface="Calibri"/>
                  <a:ea typeface="Calibri"/>
                  <a:cs typeface="Calibri"/>
                  <a:sym typeface="Calibri"/>
                </a:rPr>
                <a:t>•</a:t>
              </a:r>
              <a:r>
                <a:rPr b="1" lang="pt-BR" sz="115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Performance: </a:t>
              </a:r>
              <a:r>
                <a:rPr b="0"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Extremamente rápido, mas exige muita RAM (~32 GB para humano)</a:t>
              </a:r>
              <a:endParaRPr b="1" sz="115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00" name="Google Shape;300;p23"/>
          <p:cNvGrpSpPr/>
          <p:nvPr/>
        </p:nvGrpSpPr>
        <p:grpSpPr>
          <a:xfrm>
            <a:off x="5715000" y="1047750"/>
            <a:ext cx="2952900" cy="3238500"/>
            <a:chOff x="5715000" y="1047750"/>
            <a:chExt cx="2952900" cy="3238500"/>
          </a:xfrm>
        </p:grpSpPr>
        <p:sp>
          <p:nvSpPr>
            <p:cNvPr id="301" name="Google Shape;301;p23"/>
            <p:cNvSpPr/>
            <p:nvPr/>
          </p:nvSpPr>
          <p:spPr>
            <a:xfrm>
              <a:off x="5715000" y="1047750"/>
              <a:ext cx="2952900" cy="3238500"/>
            </a:xfrm>
            <a:prstGeom prst="roundRect">
              <a:avLst>
                <a:gd fmla="val 645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23"/>
            <p:cNvSpPr/>
            <p:nvPr/>
          </p:nvSpPr>
          <p:spPr>
            <a:xfrm>
              <a:off x="5715000" y="1047750"/>
              <a:ext cx="2952900" cy="476400"/>
            </a:xfrm>
            <a:prstGeom prst="roundRect">
              <a:avLst>
                <a:gd fmla="val 40000" name="adj"/>
              </a:avLst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" name="Google Shape;303;p23"/>
            <p:cNvSpPr/>
            <p:nvPr/>
          </p:nvSpPr>
          <p:spPr>
            <a:xfrm>
              <a:off x="5715000" y="1285875"/>
              <a:ext cx="2952900" cy="238200"/>
            </a:xfrm>
            <a:prstGeom prst="rect">
              <a:avLst/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23"/>
            <p:cNvSpPr txBox="1"/>
            <p:nvPr/>
          </p:nvSpPr>
          <p:spPr>
            <a:xfrm>
              <a:off x="5905500" y="1047750"/>
              <a:ext cx="2571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Métricas-chave</a:t>
              </a:r>
              <a:endParaRPr b="1" sz="16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5" name="Google Shape;305;p23"/>
            <p:cNvSpPr txBox="1"/>
            <p:nvPr/>
          </p:nvSpPr>
          <p:spPr>
            <a:xfrm>
              <a:off x="5905500" y="1619250"/>
              <a:ext cx="25719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000">
                  <a:solidFill>
                    <a:srgbClr val="666666"/>
                  </a:solidFill>
                  <a:latin typeface="Calibri"/>
                  <a:ea typeface="Calibri"/>
                  <a:cs typeface="Calibri"/>
                  <a:sym typeface="Calibri"/>
                </a:rPr>
                <a:t>Arquivo: Log.final.out</a:t>
              </a:r>
              <a:endParaRPr b="0" sz="10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✅</a:t>
              </a:r>
              <a:r>
                <a:rPr b="1" lang="pt-BR" sz="11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Uniquely mapped </a:t>
              </a:r>
              <a:r>
                <a:rPr b="1" lang="pt-BR" sz="11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&gt; 70%</a:t>
              </a:r>
              <a:endParaRPr b="1" sz="11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⚠️</a:t>
              </a:r>
              <a:r>
                <a:rPr b="1" lang="pt-BR" sz="11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Multi-mapped </a:t>
              </a:r>
              <a:r>
                <a:rPr b="1" lang="pt-BR" sz="11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&lt; 10%</a:t>
              </a:r>
              <a:endParaRPr b="1" sz="11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❌</a:t>
              </a:r>
              <a:r>
                <a:rPr b="1" lang="pt-BR" sz="11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Unmapped </a:t>
              </a:r>
              <a:r>
                <a:rPr b="1" lang="pt-BR" sz="115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&lt; 5%</a:t>
              </a:r>
              <a:endParaRPr b="1" sz="11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06" name="Google Shape;306;p23"/>
          <p:cNvSpPr txBox="1"/>
          <p:nvPr/>
        </p:nvSpPr>
        <p:spPr>
          <a:xfrm>
            <a:off x="0" y="4762500"/>
            <a:ext cx="9144000" cy="1077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700" u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b="0" i="0" sz="700" u="none" strike="noStrike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1" name="Google Shape;311;p24"/>
          <p:cNvGrpSpPr/>
          <p:nvPr/>
        </p:nvGrpSpPr>
        <p:grpSpPr>
          <a:xfrm>
            <a:off x="0" y="0"/>
            <a:ext cx="9143700" cy="754320"/>
            <a:chOff x="0" y="0"/>
            <a:chExt cx="9143700" cy="754320"/>
          </a:xfrm>
        </p:grpSpPr>
        <p:sp>
          <p:nvSpPr>
            <p:cNvPr id="312" name="Google Shape;312;p24"/>
            <p:cNvSpPr/>
            <p:nvPr/>
          </p:nvSpPr>
          <p:spPr>
            <a:xfrm>
              <a:off x="0" y="0"/>
              <a:ext cx="2400300" cy="82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24"/>
            <p:cNvSpPr/>
            <p:nvPr/>
          </p:nvSpPr>
          <p:spPr>
            <a:xfrm>
              <a:off x="2400300" y="0"/>
              <a:ext cx="6743400" cy="82200"/>
            </a:xfrm>
            <a:prstGeom prst="rect">
              <a:avLst/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24"/>
            <p:cNvSpPr txBox="1"/>
            <p:nvPr/>
          </p:nvSpPr>
          <p:spPr>
            <a:xfrm>
              <a:off x="274320" y="171450"/>
              <a:ext cx="342900" cy="2742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b="1" sz="8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4"/>
            <p:cNvSpPr txBox="1"/>
            <p:nvPr/>
          </p:nvSpPr>
          <p:spPr>
            <a:xfrm>
              <a:off x="411480" y="274320"/>
              <a:ext cx="8229600" cy="480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300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📊 featureCounts — Quantificação</a:t>
              </a:r>
              <a:endParaRPr b="1" sz="2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16" name="Google Shape;316;p24"/>
          <p:cNvGrpSpPr/>
          <p:nvPr/>
        </p:nvGrpSpPr>
        <p:grpSpPr>
          <a:xfrm>
            <a:off x="409575" y="952500"/>
            <a:ext cx="8325000" cy="1905000"/>
            <a:chOff x="409575" y="952500"/>
            <a:chExt cx="8325000" cy="1905000"/>
          </a:xfrm>
        </p:grpSpPr>
        <p:sp>
          <p:nvSpPr>
            <p:cNvPr id="317" name="Google Shape;317;p24"/>
            <p:cNvSpPr/>
            <p:nvPr/>
          </p:nvSpPr>
          <p:spPr>
            <a:xfrm>
              <a:off x="409575" y="952500"/>
              <a:ext cx="8325000" cy="19050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4"/>
            <p:cNvSpPr/>
            <p:nvPr/>
          </p:nvSpPr>
          <p:spPr>
            <a:xfrm>
              <a:off x="409575" y="952500"/>
              <a:ext cx="8325000" cy="381000"/>
            </a:xfrm>
            <a:prstGeom prst="roundRect">
              <a:avLst>
                <a:gd fmla="val 5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4"/>
            <p:cNvSpPr/>
            <p:nvPr/>
          </p:nvSpPr>
          <p:spPr>
            <a:xfrm>
              <a:off x="409575" y="1143000"/>
              <a:ext cx="8325000" cy="190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4"/>
            <p:cNvSpPr txBox="1"/>
            <p:nvPr/>
          </p:nvSpPr>
          <p:spPr>
            <a:xfrm>
              <a:off x="600075" y="952500"/>
              <a:ext cx="7943700" cy="3810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Comando de Execução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1" name="Google Shape;321;p24"/>
            <p:cNvSpPr txBox="1"/>
            <p:nvPr/>
          </p:nvSpPr>
          <p:spPr>
            <a:xfrm>
              <a:off x="600075" y="1428750"/>
              <a:ext cx="7943700" cy="12384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  <a:t>featureCounts \</a:t>
              </a:r>
              <a:b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  <a:t>-a reference/genes.gtf \</a:t>
              </a:r>
              <a:b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  <a:t>-o results/counts/gene_counts.txt \</a:t>
              </a:r>
              <a:b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  <a:t>-p --countReadPairs \</a:t>
              </a:r>
              <a:b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  <a:t>-s 2 \</a:t>
              </a:r>
              <a:b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  <a:t>-T 4 \</a:t>
              </a:r>
              <a:b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</a:br>
              <a:r>
                <a:rPr lang="pt-BR" sz="1100">
                  <a:solidFill>
                    <a:srgbClr val="1F497D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  <a:t>results/star/*_Aligned.sortedByCoord.out.bam</a:t>
              </a:r>
              <a:endParaRPr sz="1100">
                <a:solidFill>
                  <a:srgbClr val="1F497D"/>
                </a:solidFill>
                <a:highlight>
                  <a:srgbClr val="F8FAFC"/>
                </a:highlight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322" name="Google Shape;322;p24"/>
          <p:cNvGrpSpPr/>
          <p:nvPr/>
        </p:nvGrpSpPr>
        <p:grpSpPr>
          <a:xfrm>
            <a:off x="409575" y="3048000"/>
            <a:ext cx="8325000" cy="1428900"/>
            <a:chOff x="409575" y="3048000"/>
            <a:chExt cx="8325000" cy="1428900"/>
          </a:xfrm>
        </p:grpSpPr>
        <p:grpSp>
          <p:nvGrpSpPr>
            <p:cNvPr id="323" name="Google Shape;323;p24"/>
            <p:cNvGrpSpPr/>
            <p:nvPr/>
          </p:nvGrpSpPr>
          <p:grpSpPr>
            <a:xfrm>
              <a:off x="409575" y="3048000"/>
              <a:ext cx="4019700" cy="1428900"/>
              <a:chOff x="409575" y="3048000"/>
              <a:chExt cx="4019700" cy="1428900"/>
            </a:xfrm>
          </p:grpSpPr>
          <p:sp>
            <p:nvSpPr>
              <p:cNvPr id="324" name="Google Shape;324;p24"/>
              <p:cNvSpPr/>
              <p:nvPr/>
            </p:nvSpPr>
            <p:spPr>
              <a:xfrm>
                <a:off x="409575" y="3048000"/>
                <a:ext cx="4019700" cy="14289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24"/>
              <p:cNvSpPr/>
              <p:nvPr/>
            </p:nvSpPr>
            <p:spPr>
              <a:xfrm>
                <a:off x="409575" y="3048000"/>
                <a:ext cx="57300" cy="1428900"/>
              </a:xfrm>
              <a:prstGeom prst="rect">
                <a:avLst/>
              </a:prstGeom>
              <a:solidFill>
                <a:srgbClr val="DEA022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24"/>
              <p:cNvSpPr txBox="1"/>
              <p:nvPr/>
            </p:nvSpPr>
            <p:spPr>
              <a:xfrm>
                <a:off x="571500" y="3143250"/>
                <a:ext cx="37149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92400E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⚠️ Strandedness (Orientação da Fita)</a:t>
                </a:r>
                <a:endParaRPr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8450" lvl="0" marL="457200" rtl="0" algn="l">
                  <a:spcBef>
                    <a:spcPts val="600"/>
                  </a:spcBef>
                  <a:spcAft>
                    <a:spcPts val="0"/>
                  </a:spcAft>
                  <a:buClr>
                    <a:srgbClr val="333333"/>
                  </a:buClr>
                  <a:buSzPts val="1100"/>
                  <a:buFont typeface="Calibri"/>
                  <a:buChar char="●"/>
                </a:pPr>
                <a:r>
                  <a:rPr b="1"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-s 0</a:t>
                </a:r>
                <a:r>
                  <a:rPr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 unstranded (não orientada)</a:t>
                </a:r>
                <a:endParaRPr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8450" lvl="0" marL="457200" rtl="0" algn="l">
                  <a:spcBef>
                    <a:spcPts val="375"/>
                  </a:spcBef>
                  <a:spcAft>
                    <a:spcPts val="0"/>
                  </a:spcAft>
                  <a:buClr>
                    <a:srgbClr val="333333"/>
                  </a:buClr>
                  <a:buSzPts val="1100"/>
                  <a:buFont typeface="Calibri"/>
                  <a:buChar char="●"/>
                </a:pPr>
                <a:r>
                  <a:rPr b="1"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-s 1</a:t>
                </a:r>
                <a:r>
                  <a:rPr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 sense (fita senso)</a:t>
                </a:r>
                <a:endParaRPr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-298450" lvl="0" marL="457200" rtl="0" algn="l">
                  <a:spcBef>
                    <a:spcPts val="375"/>
                  </a:spcBef>
                  <a:spcAft>
                    <a:spcPts val="0"/>
                  </a:spcAft>
                  <a:buClr>
                    <a:srgbClr val="333333"/>
                  </a:buClr>
                  <a:buSzPts val="1100"/>
                  <a:buFont typeface="Calibri"/>
                  <a:buChar char="●"/>
                </a:pPr>
                <a:r>
                  <a:rPr b="1"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-s 2</a:t>
                </a:r>
                <a:r>
                  <a:rPr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: antisense (fita antissenso - ex: TruSeq)</a:t>
                </a:r>
                <a:endParaRPr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327" name="Google Shape;327;p24"/>
            <p:cNvGrpSpPr/>
            <p:nvPr/>
          </p:nvGrpSpPr>
          <p:grpSpPr>
            <a:xfrm>
              <a:off x="4714875" y="3048000"/>
              <a:ext cx="4019700" cy="1428900"/>
              <a:chOff x="4714875" y="3048000"/>
              <a:chExt cx="4019700" cy="1428900"/>
            </a:xfrm>
          </p:grpSpPr>
          <p:sp>
            <p:nvSpPr>
              <p:cNvPr id="328" name="Google Shape;328;p24"/>
              <p:cNvSpPr/>
              <p:nvPr/>
            </p:nvSpPr>
            <p:spPr>
              <a:xfrm>
                <a:off x="4714875" y="3048000"/>
                <a:ext cx="4019700" cy="1428900"/>
              </a:xfrm>
              <a:prstGeom prst="roundRect">
                <a:avLst>
                  <a:gd fmla="val 10000" name="adj"/>
                </a:avLst>
              </a:prstGeom>
              <a:solidFill>
                <a:srgbClr val="FFFFFF"/>
              </a:solidFill>
              <a:ln cap="flat" cmpd="sng" w="9525">
                <a:solidFill>
                  <a:srgbClr val="E2E8F0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24"/>
              <p:cNvSpPr/>
              <p:nvPr/>
            </p:nvSpPr>
            <p:spPr>
              <a:xfrm>
                <a:off x="4714875" y="3048000"/>
                <a:ext cx="57300" cy="1428900"/>
              </a:xfrm>
              <a:prstGeom prst="rect">
                <a:avLst/>
              </a:prstGeom>
              <a:solidFill>
                <a:srgbClr val="005596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24"/>
              <p:cNvSpPr txBox="1"/>
              <p:nvPr/>
            </p:nvSpPr>
            <p:spPr>
              <a:xfrm>
                <a:off x="4876800" y="3143250"/>
                <a:ext cx="3714900" cy="12384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004B8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ℹ️ Resultado e Próximos Passos</a:t>
                </a:r>
                <a:endParaRPr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Gera uma </a:t>
                </a:r>
                <a:r>
                  <a:rPr b="1"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matriz de contagens brutas</a:t>
                </a:r>
                <a:r>
                  <a:rPr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 (raw counts).</a:t>
                </a:r>
                <a:endParaRPr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rtl="0" algn="l">
                  <a:spcBef>
                    <a:spcPts val="900"/>
                  </a:spcBef>
                  <a:spcAft>
                    <a:spcPts val="0"/>
                  </a:spcAft>
                  <a:buNone/>
                </a:pPr>
                <a:r>
                  <a:rPr i="1" lang="pt-BR" sz="11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A normalização dos dados será realizada posteriormente através do pacote </a:t>
                </a:r>
                <a:r>
                  <a:rPr b="1" i="1" lang="pt-BR" sz="1100">
                    <a:solidFill>
                      <a:srgbClr val="004B87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DESeq2</a:t>
                </a:r>
                <a:r>
                  <a:rPr i="1" lang="pt-BR" sz="1100">
                    <a:solidFill>
                      <a:srgbClr val="64748B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.</a:t>
                </a:r>
                <a:endParaRPr i="1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31" name="Google Shape;331;p24"/>
          <p:cNvSpPr txBox="1"/>
          <p:nvPr/>
        </p:nvSpPr>
        <p:spPr>
          <a:xfrm>
            <a:off x="0" y="4869180"/>
            <a:ext cx="91440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700">
              <a:solidFill>
                <a:srgbClr val="94A3B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25"/>
          <p:cNvSpPr/>
          <p:nvPr/>
        </p:nvSpPr>
        <p:spPr>
          <a:xfrm>
            <a:off x="0" y="0"/>
            <a:ext cx="2400300" cy="82296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25"/>
          <p:cNvSpPr/>
          <p:nvPr/>
        </p:nvSpPr>
        <p:spPr>
          <a:xfrm>
            <a:off x="2400300" y="0"/>
            <a:ext cx="6743471" cy="82296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25"/>
          <p:cNvSpPr txBox="1"/>
          <p:nvPr/>
        </p:nvSpPr>
        <p:spPr>
          <a:xfrm>
            <a:off x="685800" y="10287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📈</a:t>
            </a:r>
            <a:endParaRPr sz="1100"/>
          </a:p>
        </p:txBody>
      </p:sp>
      <p:sp>
        <p:nvSpPr>
          <p:cNvPr id="339" name="Google Shape;339;p25"/>
          <p:cNvSpPr txBox="1"/>
          <p:nvPr/>
        </p:nvSpPr>
        <p:spPr>
          <a:xfrm>
            <a:off x="685800" y="192024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Expressão Diferencial</a:t>
            </a:r>
            <a:endParaRPr sz="1100"/>
          </a:p>
        </p:txBody>
      </p:sp>
      <p:sp>
        <p:nvSpPr>
          <p:cNvPr id="340" name="Google Shape;340;p25"/>
          <p:cNvSpPr txBox="1"/>
          <p:nvPr/>
        </p:nvSpPr>
        <p:spPr>
          <a:xfrm>
            <a:off x="685800" y="260604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DESeq2 — Teoria e conceitos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26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26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26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/>
          </a:p>
        </p:txBody>
      </p:sp>
      <p:sp>
        <p:nvSpPr>
          <p:cNvPr id="348" name="Google Shape;348;p26"/>
          <p:cNvSpPr txBox="1"/>
          <p:nvPr/>
        </p:nvSpPr>
        <p:spPr>
          <a:xfrm>
            <a:off x="411480" y="274320"/>
            <a:ext cx="8229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❓  O Problema</a:t>
            </a:r>
            <a:endParaRPr sz="1100"/>
          </a:p>
        </p:txBody>
      </p:sp>
      <p:grpSp>
        <p:nvGrpSpPr>
          <p:cNvPr id="349" name="Google Shape;349;p26"/>
          <p:cNvGrpSpPr/>
          <p:nvPr/>
        </p:nvGrpSpPr>
        <p:grpSpPr>
          <a:xfrm>
            <a:off x="409575" y="952500"/>
            <a:ext cx="8325000" cy="3238500"/>
            <a:chOff x="409575" y="952500"/>
            <a:chExt cx="8325000" cy="3238500"/>
          </a:xfrm>
        </p:grpSpPr>
        <p:sp>
          <p:nvSpPr>
            <p:cNvPr id="350" name="Google Shape;350;p26"/>
            <p:cNvSpPr/>
            <p:nvPr/>
          </p:nvSpPr>
          <p:spPr>
            <a:xfrm>
              <a:off x="409575" y="952500"/>
              <a:ext cx="8325000" cy="3238500"/>
            </a:xfrm>
            <a:prstGeom prst="roundRect">
              <a:avLst>
                <a:gd fmla="val 5882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6"/>
            <p:cNvSpPr/>
            <p:nvPr/>
          </p:nvSpPr>
          <p:spPr>
            <a:xfrm>
              <a:off x="409575" y="952500"/>
              <a:ext cx="8325000" cy="476400"/>
            </a:xfrm>
            <a:prstGeom prst="roundRect">
              <a:avLst>
                <a:gd fmla="val 4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6"/>
            <p:cNvSpPr/>
            <p:nvPr/>
          </p:nvSpPr>
          <p:spPr>
            <a:xfrm>
              <a:off x="409575" y="1190625"/>
              <a:ext cx="8325000" cy="238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6"/>
            <p:cNvSpPr txBox="1"/>
            <p:nvPr/>
          </p:nvSpPr>
          <p:spPr>
            <a:xfrm>
              <a:off x="600075" y="952500"/>
              <a:ext cx="79437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Contexto Experimental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4" name="Google Shape;354;p26"/>
            <p:cNvSpPr txBox="1"/>
            <p:nvPr/>
          </p:nvSpPr>
          <p:spPr>
            <a:xfrm>
              <a:off x="687120" y="1504579"/>
              <a:ext cx="7769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4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Dadas duas condições (ex.: controle vs. tratamento), o objetivo fundamental é:</a:t>
              </a:r>
              <a:endParaRPr b="0" sz="14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5" name="Google Shape;355;p26"/>
            <p:cNvSpPr/>
            <p:nvPr/>
          </p:nvSpPr>
          <p:spPr>
            <a:xfrm>
              <a:off x="1238250" y="2000250"/>
              <a:ext cx="6667500" cy="1143000"/>
            </a:xfrm>
            <a:prstGeom prst="roundRect">
              <a:avLst>
                <a:gd fmla="val 12500" name="adj"/>
              </a:avLst>
            </a:prstGeom>
            <a:solidFill>
              <a:srgbClr val="F8FAFC"/>
            </a:solidFill>
            <a:ln cap="flat" cmpd="sng" w="14300">
              <a:solidFill>
                <a:srgbClr val="004B8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6"/>
            <p:cNvSpPr txBox="1"/>
            <p:nvPr/>
          </p:nvSpPr>
          <p:spPr>
            <a:xfrm>
              <a:off x="1428750" y="2000250"/>
              <a:ext cx="6286500" cy="1143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4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Quais genes mudam significativamente de expressão entre as condições?</a:t>
              </a:r>
              <a:endParaRPr b="1" sz="24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7" name="Google Shape;357;p26"/>
            <p:cNvSpPr/>
            <p:nvPr/>
          </p:nvSpPr>
          <p:spPr>
            <a:xfrm>
              <a:off x="409575" y="3619500"/>
              <a:ext cx="8325000" cy="571500"/>
            </a:xfrm>
            <a:prstGeom prst="roundRect">
              <a:avLst>
                <a:gd fmla="val 25000" name="adj"/>
              </a:avLst>
            </a:prstGeom>
            <a:solidFill>
              <a:srgbClr val="F1F5F9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6"/>
            <p:cNvSpPr txBox="1"/>
            <p:nvPr/>
          </p:nvSpPr>
          <p:spPr>
            <a:xfrm>
              <a:off x="600075" y="3619500"/>
              <a:ext cx="79437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 essa mudança é </a:t>
              </a:r>
              <a:r>
                <a:rPr b="1" lang="pt-BR" sz="13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biologicamente relevante</a:t>
              </a:r>
              <a:r>
                <a:rPr b="0" lang="pt-BR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e </a:t>
              </a:r>
              <a:r>
                <a:rPr b="1" lang="pt-BR" sz="13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estatisticamente confiável</a:t>
              </a:r>
              <a:r>
                <a:rPr b="0" lang="pt-BR" sz="13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?</a:t>
              </a:r>
              <a:endParaRPr b="0" sz="13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9" name="Google Shape;359;p26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27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27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27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/>
          </a:p>
        </p:txBody>
      </p:sp>
      <p:sp>
        <p:nvSpPr>
          <p:cNvPr id="367" name="Google Shape;367;p27"/>
          <p:cNvSpPr txBox="1"/>
          <p:nvPr/>
        </p:nvSpPr>
        <p:spPr>
          <a:xfrm>
            <a:off x="411480" y="274320"/>
            <a:ext cx="8229600" cy="400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6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🚫 Por que NÃO usar fold-change simples?</a:t>
            </a:r>
            <a:endParaRPr b="1" i="0" sz="26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" name="Google Shape;368;p27"/>
          <p:cNvGrpSpPr/>
          <p:nvPr/>
        </p:nvGrpSpPr>
        <p:grpSpPr>
          <a:xfrm>
            <a:off x="381000" y="952500"/>
            <a:ext cx="4095900" cy="1428900"/>
            <a:chOff x="381000" y="952500"/>
            <a:chExt cx="4095900" cy="1428900"/>
          </a:xfrm>
        </p:grpSpPr>
        <p:sp>
          <p:nvSpPr>
            <p:cNvPr id="369" name="Google Shape;369;p27"/>
            <p:cNvSpPr/>
            <p:nvPr/>
          </p:nvSpPr>
          <p:spPr>
            <a:xfrm>
              <a:off x="381000" y="952500"/>
              <a:ext cx="4095900" cy="14289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7"/>
            <p:cNvSpPr/>
            <p:nvPr/>
          </p:nvSpPr>
          <p:spPr>
            <a:xfrm>
              <a:off x="381000" y="952500"/>
              <a:ext cx="95400" cy="1428900"/>
            </a:xfrm>
            <a:prstGeom prst="roundRect">
              <a:avLst>
                <a:gd fmla="val 50000" name="adj"/>
              </a:avLst>
            </a:prstGeom>
            <a:solidFill>
              <a:srgbClr val="EF4444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7"/>
            <p:cNvSpPr txBox="1"/>
            <p:nvPr/>
          </p:nvSpPr>
          <p:spPr>
            <a:xfrm>
              <a:off x="619125" y="952500"/>
              <a:ext cx="3667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Cenário A: Baixa Cobertura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2 → 8 reads | </a:t>
              </a:r>
              <a:r>
                <a:rPr b="1" lang="pt-BR" sz="1200">
                  <a:solidFill>
                    <a:srgbClr val="EF4444"/>
                  </a:solidFill>
                  <a:latin typeface="Calibri"/>
                  <a:ea typeface="Calibri"/>
                  <a:cs typeface="Calibri"/>
                  <a:sym typeface="Calibri"/>
                </a:rPr>
                <a:t>FC = 4x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Pequenas flutuações aleatórias inflam o FC. </a:t>
              </a:r>
              <a:b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Pouca evidência estatística!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2" name="Google Shape;372;p27"/>
          <p:cNvGrpSpPr/>
          <p:nvPr/>
        </p:nvGrpSpPr>
        <p:grpSpPr>
          <a:xfrm>
            <a:off x="381000" y="2571750"/>
            <a:ext cx="4095900" cy="1428900"/>
            <a:chOff x="381000" y="2571750"/>
            <a:chExt cx="4095900" cy="1428900"/>
          </a:xfrm>
        </p:grpSpPr>
        <p:sp>
          <p:nvSpPr>
            <p:cNvPr id="373" name="Google Shape;373;p27"/>
            <p:cNvSpPr/>
            <p:nvPr/>
          </p:nvSpPr>
          <p:spPr>
            <a:xfrm>
              <a:off x="381000" y="2571750"/>
              <a:ext cx="4095900" cy="1428900"/>
            </a:xfrm>
            <a:prstGeom prst="roundRect">
              <a:avLst>
                <a:gd fmla="val 10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7"/>
            <p:cNvSpPr/>
            <p:nvPr/>
          </p:nvSpPr>
          <p:spPr>
            <a:xfrm>
              <a:off x="381000" y="2571750"/>
              <a:ext cx="95400" cy="1428900"/>
            </a:xfrm>
            <a:prstGeom prst="roundRect">
              <a:avLst>
                <a:gd fmla="val 50000" name="adj"/>
              </a:avLst>
            </a:prstGeom>
            <a:solidFill>
              <a:srgbClr val="22C55E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7"/>
            <p:cNvSpPr txBox="1"/>
            <p:nvPr/>
          </p:nvSpPr>
          <p:spPr>
            <a:xfrm>
              <a:off x="619125" y="2571750"/>
              <a:ext cx="36672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875" lIns="142875" spcFirstLastPara="1" rIns="142875" wrap="square" tIns="1428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Cenário B: Alta Cobertura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5000 → 10000 reads | </a:t>
              </a:r>
              <a:r>
                <a:rPr b="1" lang="pt-BR" sz="1200">
                  <a:solidFill>
                    <a:srgbClr val="22C55E"/>
                  </a:solidFill>
                  <a:latin typeface="Calibri"/>
                  <a:ea typeface="Calibri"/>
                  <a:cs typeface="Calibri"/>
                  <a:sym typeface="Calibri"/>
                </a:rPr>
                <a:t>FC = 2x</a:t>
              </a:r>
              <a:endParaRPr sz="12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Diferença consistente em alta profundidade. </a:t>
              </a:r>
              <a:b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</a:br>
              <a:r>
                <a:rPr b="1"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Muita evidência estatística!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76" name="Google Shape;376;p27"/>
          <p:cNvGrpSpPr/>
          <p:nvPr/>
        </p:nvGrpSpPr>
        <p:grpSpPr>
          <a:xfrm>
            <a:off x="4667250" y="952500"/>
            <a:ext cx="4095900" cy="3048000"/>
            <a:chOff x="4667250" y="952500"/>
            <a:chExt cx="4095900" cy="3048000"/>
          </a:xfrm>
        </p:grpSpPr>
        <p:sp>
          <p:nvSpPr>
            <p:cNvPr id="377" name="Google Shape;377;p27"/>
            <p:cNvSpPr/>
            <p:nvPr/>
          </p:nvSpPr>
          <p:spPr>
            <a:xfrm>
              <a:off x="4667250" y="952500"/>
              <a:ext cx="4095900" cy="3048000"/>
            </a:xfrm>
            <a:prstGeom prst="roundRect">
              <a:avLst>
                <a:gd fmla="val 468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7"/>
            <p:cNvSpPr/>
            <p:nvPr/>
          </p:nvSpPr>
          <p:spPr>
            <a:xfrm>
              <a:off x="4667250" y="952500"/>
              <a:ext cx="4095900" cy="476400"/>
            </a:xfrm>
            <a:prstGeom prst="roundRect">
              <a:avLst>
                <a:gd fmla="val 30000" name="adj"/>
              </a:avLst>
            </a:prstGeom>
            <a:solidFill>
              <a:srgbClr val="FEE2E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379" name="Google Shape;379;p2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7250" y="1281113"/>
              <a:ext cx="4095900" cy="96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80" name="Google Shape;380;p27"/>
            <p:cNvSpPr txBox="1"/>
            <p:nvPr/>
          </p:nvSpPr>
          <p:spPr>
            <a:xfrm>
              <a:off x="4810125" y="952500"/>
              <a:ext cx="38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rgbClr val="C62828"/>
                  </a:solidFill>
                  <a:latin typeface="Calibri"/>
                  <a:ea typeface="Calibri"/>
                  <a:cs typeface="Calibri"/>
                  <a:sym typeface="Calibri"/>
                </a:rPr>
                <a:t>Limitações Críticas</a:t>
              </a:r>
              <a:endParaRPr b="1" sz="1800">
                <a:solidFill>
                  <a:srgbClr val="C6282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1" name="Google Shape;381;p27"/>
            <p:cNvSpPr txBox="1"/>
            <p:nvPr/>
          </p:nvSpPr>
          <p:spPr>
            <a:xfrm>
              <a:off x="4905375" y="1524000"/>
              <a:ext cx="36672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1625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Ignora variabilidade: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Não considera a dispersão entre réplicas biológicas.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Viés de expressão: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Genes pouco expressos geram FCs "ruidosos" e enganosos.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Falta de confiança: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Não fornece p-valor ou medida de incerteza.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1625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334155"/>
                </a:buClr>
                <a:buSzPts val="1150"/>
                <a:buFont typeface="Calibri"/>
                <a:buChar char="●"/>
              </a:pPr>
              <a:r>
                <a:rPr b="1"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Múltiplos testes:</a:t>
              </a:r>
              <a:r>
                <a:rPr lang="pt-BR" sz="115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Não corrige para a taxa de falsos positivos (FDR).</a:t>
              </a:r>
              <a:endParaRPr sz="115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82" name="Google Shape;382;p27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8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8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28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/>
          </a:p>
        </p:txBody>
      </p:sp>
      <p:sp>
        <p:nvSpPr>
          <p:cNvPr id="390" name="Google Shape;390;p28"/>
          <p:cNvSpPr txBox="1"/>
          <p:nvPr/>
        </p:nvSpPr>
        <p:spPr>
          <a:xfrm>
            <a:off x="411480" y="274320"/>
            <a:ext cx="8229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🔬  DESeq2 — O Modelo</a:t>
            </a:r>
            <a:endParaRPr sz="1100"/>
          </a:p>
        </p:txBody>
      </p:sp>
      <p:grpSp>
        <p:nvGrpSpPr>
          <p:cNvPr id="391" name="Google Shape;391;p28"/>
          <p:cNvGrpSpPr/>
          <p:nvPr/>
        </p:nvGrpSpPr>
        <p:grpSpPr>
          <a:xfrm>
            <a:off x="409575" y="952500"/>
            <a:ext cx="4095900" cy="3238500"/>
            <a:chOff x="409575" y="952500"/>
            <a:chExt cx="4095900" cy="3238500"/>
          </a:xfrm>
        </p:grpSpPr>
        <p:sp>
          <p:nvSpPr>
            <p:cNvPr id="392" name="Google Shape;392;p28"/>
            <p:cNvSpPr/>
            <p:nvPr/>
          </p:nvSpPr>
          <p:spPr>
            <a:xfrm>
              <a:off x="409575" y="952500"/>
              <a:ext cx="40959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" name="Google Shape;393;p28"/>
            <p:cNvSpPr/>
            <p:nvPr/>
          </p:nvSpPr>
          <p:spPr>
            <a:xfrm>
              <a:off x="409575" y="952500"/>
              <a:ext cx="95400" cy="3238500"/>
            </a:xfrm>
            <a:prstGeom prst="roundRect">
              <a:avLst>
                <a:gd fmla="val 5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" name="Google Shape;394;p28"/>
            <p:cNvSpPr txBox="1"/>
            <p:nvPr/>
          </p:nvSpPr>
          <p:spPr>
            <a:xfrm>
              <a:off x="647700" y="952500"/>
              <a:ext cx="3619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 Modelo Estatístico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rgbClr val="004B87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  <a:t>Kᵢⱼ ~ NB( μᵢⱼ , αᵢ )</a:t>
              </a:r>
              <a:endParaRPr b="1" sz="1800">
                <a:solidFill>
                  <a:srgbClr val="004B87"/>
                </a:solidFill>
                <a:highlight>
                  <a:srgbClr val="F8FAF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-2984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Kᵢⱼ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: contagem do gene </a:t>
              </a:r>
              <a:r>
                <a:rPr i="1" lang="pt-BR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na amostra </a:t>
              </a:r>
              <a:r>
                <a:rPr i="1" lang="pt-BR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μᵢⱼ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: média esperada (size factor + efeito da condição)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αᵢ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: dispersão do gene </a:t>
              </a:r>
              <a:r>
                <a:rPr i="1" lang="pt-BR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(variabilidade biológica)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p28"/>
          <p:cNvGrpSpPr/>
          <p:nvPr/>
        </p:nvGrpSpPr>
        <p:grpSpPr>
          <a:xfrm>
            <a:off x="4638675" y="952500"/>
            <a:ext cx="4095900" cy="3238500"/>
            <a:chOff x="4638675" y="952500"/>
            <a:chExt cx="4095900" cy="3238500"/>
          </a:xfrm>
        </p:grpSpPr>
        <p:sp>
          <p:nvSpPr>
            <p:cNvPr id="396" name="Google Shape;396;p28"/>
            <p:cNvSpPr/>
            <p:nvPr/>
          </p:nvSpPr>
          <p:spPr>
            <a:xfrm>
              <a:off x="4638675" y="952500"/>
              <a:ext cx="40959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" name="Google Shape;397;p28"/>
            <p:cNvSpPr/>
            <p:nvPr/>
          </p:nvSpPr>
          <p:spPr>
            <a:xfrm>
              <a:off x="4638675" y="952500"/>
              <a:ext cx="4095900" cy="476400"/>
            </a:xfrm>
            <a:prstGeom prst="roundRect">
              <a:avLst>
                <a:gd fmla="val 30000" name="adj"/>
              </a:avLst>
            </a:prstGeom>
            <a:solidFill>
              <a:srgbClr val="C8FFFF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" name="Google Shape;398;p28"/>
            <p:cNvSpPr txBox="1"/>
            <p:nvPr/>
          </p:nvSpPr>
          <p:spPr>
            <a:xfrm>
              <a:off x="4781550" y="952500"/>
              <a:ext cx="38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Por que Binomial Negativa?</a:t>
              </a:r>
              <a:endParaRPr b="1" sz="16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8"/>
            <p:cNvSpPr txBox="1"/>
            <p:nvPr/>
          </p:nvSpPr>
          <p:spPr>
            <a:xfrm>
              <a:off x="4781550" y="1524000"/>
              <a:ext cx="3810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Dados de RNA-seq apresentam </a:t>
              </a:r>
              <a:r>
                <a:rPr b="1" lang="pt-BR" sz="12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overdispersion</a:t>
              </a: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: a variância é maior que a média (</a:t>
              </a:r>
              <a:r>
                <a:rPr i="1" lang="pt-BR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var</a:t>
              </a: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&gt; </a:t>
              </a:r>
              <a:r>
                <a:rPr i="1" lang="pt-BR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μ</a:t>
              </a: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).</a:t>
              </a:r>
              <a:endParaRPr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Diferença de Poisson:</a:t>
              </a:r>
              <a: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No modelo Poisson, assume-se que </a:t>
              </a:r>
              <a:r>
                <a:rPr i="1" lang="pt-BR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var = μ</a:t>
              </a:r>
              <a: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 Binomial Negativa permite modelar essa variabilidade extra comum em réplicas biológicas.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H₀ em RNA-seq: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A probabilidade de um gene cair em um "lugar" (contagem) específico é explicada apenas pela variabilidade aleatória do modelo NB.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DEA0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DEA0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400" name="Google Shape;400;p28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  <p:pic>
        <p:nvPicPr>
          <p:cNvPr descr="crie uma imagem com uma curva bionomial negativa em comparação com distribuição normal" id="401" name="Google Shape;401;p28"/>
          <p:cNvPicPr preferRelativeResize="0"/>
          <p:nvPr/>
        </p:nvPicPr>
        <p:blipFill rotWithShape="1">
          <a:blip r:embed="rId3">
            <a:alphaModFix/>
          </a:blip>
          <a:srcRect b="18553" l="50000" r="0" t="18084"/>
          <a:stretch/>
        </p:blipFill>
        <p:spPr>
          <a:xfrm>
            <a:off x="2592975" y="2299827"/>
            <a:ext cx="3788800" cy="267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9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9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29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/>
          </a:p>
        </p:txBody>
      </p:sp>
      <p:sp>
        <p:nvSpPr>
          <p:cNvPr id="409" name="Google Shape;409;p29"/>
          <p:cNvSpPr txBox="1"/>
          <p:nvPr/>
        </p:nvSpPr>
        <p:spPr>
          <a:xfrm>
            <a:off x="411480" y="274320"/>
            <a:ext cx="8229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🔬  DESeq2 — O Modelo</a:t>
            </a:r>
            <a:endParaRPr sz="1100"/>
          </a:p>
        </p:txBody>
      </p:sp>
      <p:grpSp>
        <p:nvGrpSpPr>
          <p:cNvPr id="410" name="Google Shape;410;p29"/>
          <p:cNvGrpSpPr/>
          <p:nvPr/>
        </p:nvGrpSpPr>
        <p:grpSpPr>
          <a:xfrm>
            <a:off x="409575" y="952500"/>
            <a:ext cx="4095900" cy="3238500"/>
            <a:chOff x="409575" y="952500"/>
            <a:chExt cx="4095900" cy="3238500"/>
          </a:xfrm>
        </p:grpSpPr>
        <p:sp>
          <p:nvSpPr>
            <p:cNvPr id="411" name="Google Shape;411;p29"/>
            <p:cNvSpPr/>
            <p:nvPr/>
          </p:nvSpPr>
          <p:spPr>
            <a:xfrm>
              <a:off x="409575" y="952500"/>
              <a:ext cx="40959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29"/>
            <p:cNvSpPr/>
            <p:nvPr/>
          </p:nvSpPr>
          <p:spPr>
            <a:xfrm>
              <a:off x="409575" y="952500"/>
              <a:ext cx="95400" cy="3238500"/>
            </a:xfrm>
            <a:prstGeom prst="roundRect">
              <a:avLst>
                <a:gd fmla="val 5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29"/>
            <p:cNvSpPr txBox="1"/>
            <p:nvPr/>
          </p:nvSpPr>
          <p:spPr>
            <a:xfrm>
              <a:off x="647700" y="952500"/>
              <a:ext cx="3619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 Modelo Estatístico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rgbClr val="004B87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  <a:t>Kᵢⱼ ~ NB( μᵢⱼ , αᵢ )</a:t>
              </a:r>
              <a:endParaRPr b="1" sz="1800">
                <a:solidFill>
                  <a:srgbClr val="004B87"/>
                </a:solidFill>
                <a:highlight>
                  <a:srgbClr val="F8FAF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-2984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Kᵢⱼ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: contagem do gene </a:t>
              </a:r>
              <a:r>
                <a:rPr i="1" lang="pt-BR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na amostra </a:t>
              </a:r>
              <a:r>
                <a:rPr i="1" lang="pt-BR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μᵢⱼ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: média esperada (size factor + efeito da condição)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αᵢ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: dispersão do gene </a:t>
              </a:r>
              <a:r>
                <a:rPr i="1" lang="pt-BR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(variabilidade biológica)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14" name="Google Shape;414;p29"/>
          <p:cNvGrpSpPr/>
          <p:nvPr/>
        </p:nvGrpSpPr>
        <p:grpSpPr>
          <a:xfrm>
            <a:off x="4638675" y="952500"/>
            <a:ext cx="4095900" cy="3238500"/>
            <a:chOff x="4638675" y="952500"/>
            <a:chExt cx="4095900" cy="3238500"/>
          </a:xfrm>
        </p:grpSpPr>
        <p:sp>
          <p:nvSpPr>
            <p:cNvPr id="415" name="Google Shape;415;p29"/>
            <p:cNvSpPr/>
            <p:nvPr/>
          </p:nvSpPr>
          <p:spPr>
            <a:xfrm>
              <a:off x="4638675" y="952500"/>
              <a:ext cx="40959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29"/>
            <p:cNvSpPr/>
            <p:nvPr/>
          </p:nvSpPr>
          <p:spPr>
            <a:xfrm>
              <a:off x="4638675" y="952500"/>
              <a:ext cx="4095900" cy="476400"/>
            </a:xfrm>
            <a:prstGeom prst="roundRect">
              <a:avLst>
                <a:gd fmla="val 30000" name="adj"/>
              </a:avLst>
            </a:prstGeom>
            <a:solidFill>
              <a:srgbClr val="C8FFFF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29"/>
            <p:cNvSpPr txBox="1"/>
            <p:nvPr/>
          </p:nvSpPr>
          <p:spPr>
            <a:xfrm>
              <a:off x="4781550" y="952500"/>
              <a:ext cx="38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Por que Binomial Negativa?</a:t>
              </a:r>
              <a:endParaRPr b="1" sz="16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8" name="Google Shape;418;p29"/>
            <p:cNvSpPr txBox="1"/>
            <p:nvPr/>
          </p:nvSpPr>
          <p:spPr>
            <a:xfrm>
              <a:off x="4781550" y="1524000"/>
              <a:ext cx="3810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Dados de RNA-seq apresentam </a:t>
              </a:r>
              <a:r>
                <a:rPr b="1" lang="pt-BR" sz="12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overdispersion</a:t>
              </a: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: a variância é maior que a média (</a:t>
              </a:r>
              <a:r>
                <a:rPr i="1" lang="pt-BR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var</a:t>
              </a: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&gt; </a:t>
              </a:r>
              <a:r>
                <a:rPr i="1" lang="pt-BR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μ</a:t>
              </a: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).</a:t>
              </a:r>
              <a:endParaRPr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Diferença de Poisson:</a:t>
              </a:r>
              <a: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No modelo Poisson, assume-se que </a:t>
              </a:r>
              <a:r>
                <a:rPr i="1" lang="pt-BR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var = μ</a:t>
              </a:r>
              <a: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 Binomial Negativa permite modelar essa variabilidade extra comum em réplicas biológicas.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H₀ em RNA-seq: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A probabilidade de um gene cair em um "lugar" (contagem) específico é explicada apenas pela variabilidade aleatória do modelo NB.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DEA0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DEA0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419" name="Google Shape;419;p29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30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0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0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0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/>
          </a:p>
        </p:txBody>
      </p:sp>
      <p:sp>
        <p:nvSpPr>
          <p:cNvPr id="427" name="Google Shape;427;p30"/>
          <p:cNvSpPr txBox="1"/>
          <p:nvPr/>
        </p:nvSpPr>
        <p:spPr>
          <a:xfrm>
            <a:off x="411480" y="274320"/>
            <a:ext cx="8229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🔬  DESeq2 — O Modelo</a:t>
            </a:r>
            <a:endParaRPr sz="1100"/>
          </a:p>
        </p:txBody>
      </p:sp>
      <p:grpSp>
        <p:nvGrpSpPr>
          <p:cNvPr id="428" name="Google Shape;428;p30"/>
          <p:cNvGrpSpPr/>
          <p:nvPr/>
        </p:nvGrpSpPr>
        <p:grpSpPr>
          <a:xfrm>
            <a:off x="409575" y="952500"/>
            <a:ext cx="4095900" cy="3238500"/>
            <a:chOff x="409575" y="952500"/>
            <a:chExt cx="4095900" cy="3238500"/>
          </a:xfrm>
        </p:grpSpPr>
        <p:sp>
          <p:nvSpPr>
            <p:cNvPr id="429" name="Google Shape;429;p30"/>
            <p:cNvSpPr/>
            <p:nvPr/>
          </p:nvSpPr>
          <p:spPr>
            <a:xfrm>
              <a:off x="409575" y="952500"/>
              <a:ext cx="40959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0"/>
            <p:cNvSpPr/>
            <p:nvPr/>
          </p:nvSpPr>
          <p:spPr>
            <a:xfrm>
              <a:off x="409575" y="952500"/>
              <a:ext cx="95400" cy="3238500"/>
            </a:xfrm>
            <a:prstGeom prst="roundRect">
              <a:avLst>
                <a:gd fmla="val 5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0"/>
            <p:cNvSpPr txBox="1"/>
            <p:nvPr/>
          </p:nvSpPr>
          <p:spPr>
            <a:xfrm>
              <a:off x="647700" y="952500"/>
              <a:ext cx="3619500" cy="3238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O Modelo Estatístico</a:t>
              </a:r>
              <a:endParaRPr b="1" sz="1600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b="1" lang="pt-BR" sz="1800">
                  <a:solidFill>
                    <a:srgbClr val="004B87"/>
                  </a:solidFill>
                  <a:highlight>
                    <a:srgbClr val="F8FAFC"/>
                  </a:highlight>
                  <a:latin typeface="Consolas"/>
                  <a:ea typeface="Consolas"/>
                  <a:cs typeface="Consolas"/>
                  <a:sym typeface="Consolas"/>
                </a:rPr>
                <a:t>Kᵢⱼ ~ NB( μᵢⱼ , αᵢ )</a:t>
              </a:r>
              <a:endParaRPr b="1" sz="1800">
                <a:solidFill>
                  <a:srgbClr val="004B87"/>
                </a:solidFill>
                <a:highlight>
                  <a:srgbClr val="F8FAFC"/>
                </a:highlight>
                <a:latin typeface="Consolas"/>
                <a:ea typeface="Consolas"/>
                <a:cs typeface="Consolas"/>
                <a:sym typeface="Consolas"/>
              </a:endParaRPr>
            </a:p>
            <a:p>
              <a:pPr indent="-298450" lvl="0" marL="457200" rtl="0" algn="l">
                <a:spcBef>
                  <a:spcPts val="15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Kᵢⱼ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: contagem do gene </a:t>
              </a:r>
              <a:r>
                <a:rPr i="1" lang="pt-BR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na amostra </a:t>
              </a:r>
              <a:r>
                <a:rPr i="1" lang="pt-BR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j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μᵢⱼ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: média esperada (size factor + efeito da condição)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29845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475569"/>
                </a:buClr>
                <a:buSzPts val="1100"/>
                <a:buFont typeface="Calibri"/>
                <a:buChar char="●"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αᵢ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: dispersão do gene </a:t>
              </a:r>
              <a:r>
                <a:rPr i="1" lang="pt-BR" sz="1100">
                  <a:solidFill>
                    <a:srgbClr val="475569"/>
                  </a:solidFill>
                  <a:latin typeface="Arial"/>
                  <a:ea typeface="Arial"/>
                  <a:cs typeface="Arial"/>
                  <a:sym typeface="Arial"/>
                </a:rPr>
                <a:t>i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(variabilidade biológica)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32" name="Google Shape;432;p30"/>
          <p:cNvGrpSpPr/>
          <p:nvPr/>
        </p:nvGrpSpPr>
        <p:grpSpPr>
          <a:xfrm>
            <a:off x="4638675" y="952500"/>
            <a:ext cx="4095900" cy="3238500"/>
            <a:chOff x="4638675" y="952500"/>
            <a:chExt cx="4095900" cy="3238500"/>
          </a:xfrm>
        </p:grpSpPr>
        <p:sp>
          <p:nvSpPr>
            <p:cNvPr id="433" name="Google Shape;433;p30"/>
            <p:cNvSpPr/>
            <p:nvPr/>
          </p:nvSpPr>
          <p:spPr>
            <a:xfrm>
              <a:off x="4638675" y="952500"/>
              <a:ext cx="4095900" cy="3238500"/>
            </a:xfrm>
            <a:prstGeom prst="roundRect">
              <a:avLst>
                <a:gd fmla="val 4411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0"/>
            <p:cNvSpPr/>
            <p:nvPr/>
          </p:nvSpPr>
          <p:spPr>
            <a:xfrm>
              <a:off x="4638675" y="952500"/>
              <a:ext cx="4095900" cy="476400"/>
            </a:xfrm>
            <a:prstGeom prst="roundRect">
              <a:avLst>
                <a:gd fmla="val 30000" name="adj"/>
              </a:avLst>
            </a:prstGeom>
            <a:solidFill>
              <a:srgbClr val="C8FFFF">
                <a:alpha val="50000"/>
              </a:srgbClr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0"/>
            <p:cNvSpPr txBox="1"/>
            <p:nvPr/>
          </p:nvSpPr>
          <p:spPr>
            <a:xfrm>
              <a:off x="4781550" y="952500"/>
              <a:ext cx="38100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Por que Binomial Negativa?</a:t>
              </a:r>
              <a:endParaRPr b="1" sz="16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6" name="Google Shape;436;p30"/>
            <p:cNvSpPr txBox="1"/>
            <p:nvPr/>
          </p:nvSpPr>
          <p:spPr>
            <a:xfrm>
              <a:off x="4781550" y="1524000"/>
              <a:ext cx="3810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Dados de RNA-seq apresentam </a:t>
              </a:r>
              <a:r>
                <a:rPr b="1" lang="pt-BR" sz="12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overdispersion</a:t>
              </a: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: a variância é maior que a média (</a:t>
              </a:r>
              <a:r>
                <a:rPr i="1" lang="pt-BR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var</a:t>
              </a: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 &gt; </a:t>
              </a:r>
              <a:r>
                <a:rPr i="1" lang="pt-BR" sz="1200">
                  <a:solidFill>
                    <a:srgbClr val="334155"/>
                  </a:solidFill>
                  <a:latin typeface="Arial"/>
                  <a:ea typeface="Arial"/>
                  <a:cs typeface="Arial"/>
                  <a:sym typeface="Arial"/>
                </a:rPr>
                <a:t>μ</a:t>
              </a:r>
              <a:r>
                <a:rPr lang="pt-BR" sz="1200">
                  <a:solidFill>
                    <a:srgbClr val="334155"/>
                  </a:solidFill>
                  <a:latin typeface="Calibri"/>
                  <a:ea typeface="Calibri"/>
                  <a:cs typeface="Calibri"/>
                  <a:sym typeface="Calibri"/>
                </a:rPr>
                <a:t>).</a:t>
              </a:r>
              <a:endParaRPr sz="1200">
                <a:solidFill>
                  <a:srgbClr val="334155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Diferença de Poisson:</a:t>
              </a:r>
              <a: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 No modelo Poisson, assume-se que </a:t>
              </a:r>
              <a:r>
                <a:rPr i="1" lang="pt-BR" sz="1100">
                  <a:solidFill>
                    <a:srgbClr val="64748B"/>
                  </a:solidFill>
                  <a:latin typeface="Arial"/>
                  <a:ea typeface="Arial"/>
                  <a:cs typeface="Arial"/>
                  <a:sym typeface="Arial"/>
                </a:rPr>
                <a:t>var = μ</a:t>
              </a:r>
              <a: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64748B"/>
                  </a:solidFill>
                  <a:latin typeface="Calibri"/>
                  <a:ea typeface="Calibri"/>
                  <a:cs typeface="Calibri"/>
                  <a:sym typeface="Calibri"/>
                </a:rPr>
                <a:t>A Binomial Negativa permite modelar essa variabilidade extra comum em réplicas biológicas.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1E293B"/>
                  </a:solidFill>
                  <a:latin typeface="Calibri"/>
                  <a:ea typeface="Calibri"/>
                  <a:cs typeface="Calibri"/>
                  <a:sym typeface="Calibri"/>
                </a:rPr>
                <a:t>H₀ em RNA-seq:</a:t>
              </a: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 A probabilidade de um gene cair em um "lugar" (contagem) específico é explicada apenas pela variabilidade aleatória do modelo NB.</a:t>
              </a:r>
              <a:endParaRPr sz="1100">
                <a:solidFill>
                  <a:srgbClr val="64748B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225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DEA0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2400">
                <a:solidFill>
                  <a:srgbClr val="DEA0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437" name="Google Shape;437;p30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  <p:pic>
        <p:nvPicPr>
          <p:cNvPr descr="crie uma imagem com um gráfico de uma curva binomial negativa para rna-seq. deixe a legenda fora do gráfico" id="438" name="Google Shape;438;p30"/>
          <p:cNvPicPr preferRelativeResize="0"/>
          <p:nvPr/>
        </p:nvPicPr>
        <p:blipFill rotWithShape="1">
          <a:blip r:embed="rId3">
            <a:alphaModFix/>
          </a:blip>
          <a:srcRect b="17762" l="49915" r="1609" t="16793"/>
          <a:stretch/>
        </p:blipFill>
        <p:spPr>
          <a:xfrm>
            <a:off x="4516025" y="863600"/>
            <a:ext cx="4479226" cy="3366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1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1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/>
          </a:p>
        </p:txBody>
      </p:sp>
      <p:sp>
        <p:nvSpPr>
          <p:cNvPr id="446" name="Google Shape;446;p31"/>
          <p:cNvSpPr txBox="1"/>
          <p:nvPr/>
        </p:nvSpPr>
        <p:spPr>
          <a:xfrm>
            <a:off x="411480" y="274320"/>
            <a:ext cx="8229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⚙️  O que DESeq() faz internamente?</a:t>
            </a:r>
            <a:endParaRPr sz="1100"/>
          </a:p>
        </p:txBody>
      </p:sp>
      <p:grpSp>
        <p:nvGrpSpPr>
          <p:cNvPr id="447" name="Google Shape;447;p31"/>
          <p:cNvGrpSpPr/>
          <p:nvPr/>
        </p:nvGrpSpPr>
        <p:grpSpPr>
          <a:xfrm>
            <a:off x="666750" y="904875"/>
            <a:ext cx="7810500" cy="809700"/>
            <a:chOff x="666750" y="904875"/>
            <a:chExt cx="7810500" cy="809700"/>
          </a:xfrm>
        </p:grpSpPr>
        <p:sp>
          <p:nvSpPr>
            <p:cNvPr id="448" name="Google Shape;448;p31"/>
            <p:cNvSpPr/>
            <p:nvPr/>
          </p:nvSpPr>
          <p:spPr>
            <a:xfrm>
              <a:off x="666750" y="904875"/>
              <a:ext cx="78105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666750" y="904875"/>
              <a:ext cx="95400" cy="809700"/>
            </a:xfrm>
            <a:prstGeom prst="roundRect">
              <a:avLst>
                <a:gd fmla="val 50000" name="adj"/>
              </a:avLst>
            </a:prstGeom>
            <a:solidFill>
              <a:srgbClr val="0055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1"/>
            <p:cNvSpPr txBox="1"/>
            <p:nvPr/>
          </p:nvSpPr>
          <p:spPr>
            <a:xfrm>
              <a:off x="904875" y="904875"/>
              <a:ext cx="476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1</a:t>
              </a:r>
              <a:endParaRPr sz="24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1" name="Google Shape;451;p31"/>
            <p:cNvSpPr txBox="1"/>
            <p:nvPr/>
          </p:nvSpPr>
          <p:spPr>
            <a:xfrm>
              <a:off x="1476375" y="1000125"/>
              <a:ext cx="676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Normalização</a:t>
              </a:r>
              <a:endParaRPr b="1" sz="16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2" name="Google Shape;452;p31"/>
            <p:cNvSpPr txBox="1"/>
            <p:nvPr/>
          </p:nvSpPr>
          <p:spPr>
            <a:xfrm>
              <a:off x="1476375" y="1285875"/>
              <a:ext cx="6762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Estimação dos size factors — corrige diferenças de profundidade (método da mediana das razões)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3" name="Google Shape;453;p31"/>
          <p:cNvGrpSpPr/>
          <p:nvPr/>
        </p:nvGrpSpPr>
        <p:grpSpPr>
          <a:xfrm>
            <a:off x="666750" y="1857375"/>
            <a:ext cx="7810500" cy="809700"/>
            <a:chOff x="666750" y="1857375"/>
            <a:chExt cx="7810500" cy="809700"/>
          </a:xfrm>
        </p:grpSpPr>
        <p:sp>
          <p:nvSpPr>
            <p:cNvPr id="454" name="Google Shape;454;p31"/>
            <p:cNvSpPr/>
            <p:nvPr/>
          </p:nvSpPr>
          <p:spPr>
            <a:xfrm>
              <a:off x="666750" y="1857375"/>
              <a:ext cx="78105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666750" y="1857375"/>
              <a:ext cx="95400" cy="809700"/>
            </a:xfrm>
            <a:prstGeom prst="roundRect">
              <a:avLst>
                <a:gd fmla="val 50000" name="adj"/>
              </a:avLst>
            </a:prstGeom>
            <a:solidFill>
              <a:srgbClr val="2E7D3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1"/>
            <p:cNvSpPr txBox="1"/>
            <p:nvPr/>
          </p:nvSpPr>
          <p:spPr>
            <a:xfrm>
              <a:off x="904875" y="1857375"/>
              <a:ext cx="476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2</a:t>
              </a:r>
              <a:endParaRPr sz="24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7" name="Google Shape;457;p31"/>
            <p:cNvSpPr txBox="1"/>
            <p:nvPr/>
          </p:nvSpPr>
          <p:spPr>
            <a:xfrm>
              <a:off x="1476375" y="1952625"/>
              <a:ext cx="676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rPr>
                <a:t>Estimação da dispersão</a:t>
              </a:r>
              <a:endParaRPr b="1" sz="1600">
                <a:solidFill>
                  <a:srgbClr val="2E7D3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8" name="Google Shape;458;p31"/>
            <p:cNvSpPr txBox="1"/>
            <p:nvPr/>
          </p:nvSpPr>
          <p:spPr>
            <a:xfrm>
              <a:off x="1476375" y="2238375"/>
              <a:ext cx="6762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Estima αᵢ por gene, com shrinkage empírico bayesiano (empresta informação de genes similares)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59" name="Google Shape;459;p31"/>
          <p:cNvGrpSpPr/>
          <p:nvPr/>
        </p:nvGrpSpPr>
        <p:grpSpPr>
          <a:xfrm>
            <a:off x="666750" y="2809875"/>
            <a:ext cx="7810500" cy="809700"/>
            <a:chOff x="666750" y="2809875"/>
            <a:chExt cx="7810500" cy="809700"/>
          </a:xfrm>
        </p:grpSpPr>
        <p:sp>
          <p:nvSpPr>
            <p:cNvPr id="460" name="Google Shape;460;p31"/>
            <p:cNvSpPr/>
            <p:nvPr/>
          </p:nvSpPr>
          <p:spPr>
            <a:xfrm>
              <a:off x="666750" y="2809875"/>
              <a:ext cx="78105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1"/>
            <p:cNvSpPr/>
            <p:nvPr/>
          </p:nvSpPr>
          <p:spPr>
            <a:xfrm>
              <a:off x="666750" y="2809875"/>
              <a:ext cx="95400" cy="809700"/>
            </a:xfrm>
            <a:prstGeom prst="roundRect">
              <a:avLst>
                <a:gd fmla="val 50000" name="adj"/>
              </a:avLst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1"/>
            <p:cNvSpPr txBox="1"/>
            <p:nvPr/>
          </p:nvSpPr>
          <p:spPr>
            <a:xfrm>
              <a:off x="904875" y="2809875"/>
              <a:ext cx="476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DEA022"/>
                  </a:solidFill>
                  <a:latin typeface="Calibri"/>
                  <a:ea typeface="Calibri"/>
                  <a:cs typeface="Calibri"/>
                  <a:sym typeface="Calibri"/>
                </a:rPr>
                <a:t>3</a:t>
              </a:r>
              <a:endParaRPr sz="240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3" name="Google Shape;463;p31"/>
            <p:cNvSpPr txBox="1"/>
            <p:nvPr/>
          </p:nvSpPr>
          <p:spPr>
            <a:xfrm>
              <a:off x="1476375" y="2905125"/>
              <a:ext cx="676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DEA022"/>
                  </a:solidFill>
                  <a:latin typeface="Calibri"/>
                  <a:ea typeface="Calibri"/>
                  <a:cs typeface="Calibri"/>
                  <a:sym typeface="Calibri"/>
                </a:rPr>
                <a:t>Ajuste do GLM</a:t>
              </a:r>
              <a:endParaRPr b="1" sz="160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4" name="Google Shape;464;p31"/>
            <p:cNvSpPr txBox="1"/>
            <p:nvPr/>
          </p:nvSpPr>
          <p:spPr>
            <a:xfrm>
              <a:off x="1476375" y="3190875"/>
              <a:ext cx="6762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Ajusta o modelo linear generalizado Binomial Negativa para cada gene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465" name="Google Shape;465;p31"/>
          <p:cNvGrpSpPr/>
          <p:nvPr/>
        </p:nvGrpSpPr>
        <p:grpSpPr>
          <a:xfrm>
            <a:off x="666750" y="3762375"/>
            <a:ext cx="7810500" cy="809700"/>
            <a:chOff x="666750" y="3762375"/>
            <a:chExt cx="7810500" cy="809700"/>
          </a:xfrm>
        </p:grpSpPr>
        <p:sp>
          <p:nvSpPr>
            <p:cNvPr id="466" name="Google Shape;466;p31"/>
            <p:cNvSpPr/>
            <p:nvPr/>
          </p:nvSpPr>
          <p:spPr>
            <a:xfrm>
              <a:off x="666750" y="3762375"/>
              <a:ext cx="7810500" cy="809700"/>
            </a:xfrm>
            <a:prstGeom prst="roundRect">
              <a:avLst>
                <a:gd fmla="val 14117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1"/>
            <p:cNvSpPr/>
            <p:nvPr/>
          </p:nvSpPr>
          <p:spPr>
            <a:xfrm>
              <a:off x="666750" y="3762375"/>
              <a:ext cx="95400" cy="809700"/>
            </a:xfrm>
            <a:prstGeom prst="roundRect">
              <a:avLst>
                <a:gd fmla="val 50000" name="adj"/>
              </a:avLst>
            </a:prstGeom>
            <a:solidFill>
              <a:srgbClr val="6A1B9A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1"/>
            <p:cNvSpPr txBox="1"/>
            <p:nvPr/>
          </p:nvSpPr>
          <p:spPr>
            <a:xfrm>
              <a:off x="904875" y="3762375"/>
              <a:ext cx="476400" cy="809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2400">
                  <a:solidFill>
                    <a:srgbClr val="6A1B9A"/>
                  </a:solidFill>
                  <a:latin typeface="Calibri"/>
                  <a:ea typeface="Calibri"/>
                  <a:cs typeface="Calibri"/>
                  <a:sym typeface="Calibri"/>
                </a:rPr>
                <a:t>4</a:t>
              </a:r>
              <a:endParaRPr sz="240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9" name="Google Shape;469;p31"/>
            <p:cNvSpPr txBox="1"/>
            <p:nvPr/>
          </p:nvSpPr>
          <p:spPr>
            <a:xfrm>
              <a:off x="1476375" y="3857625"/>
              <a:ext cx="67629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600">
                  <a:solidFill>
                    <a:srgbClr val="6A1B9A"/>
                  </a:solidFill>
                  <a:latin typeface="Calibri"/>
                  <a:ea typeface="Calibri"/>
                  <a:cs typeface="Calibri"/>
                  <a:sym typeface="Calibri"/>
                </a:rPr>
                <a:t>Teste de Wald</a:t>
              </a:r>
              <a:endParaRPr b="1" sz="160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0" name="Google Shape;470;p31"/>
            <p:cNvSpPr txBox="1"/>
            <p:nvPr/>
          </p:nvSpPr>
          <p:spPr>
            <a:xfrm>
              <a:off x="1476375" y="4143375"/>
              <a:ext cx="67629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475569"/>
                  </a:solidFill>
                  <a:latin typeface="Calibri"/>
                  <a:ea typeface="Calibri"/>
                  <a:cs typeface="Calibri"/>
                  <a:sym typeface="Calibri"/>
                </a:rPr>
                <a:t>Testa H₀: log2FoldChange = 0 → gera p-valor → correção BH (padj)</a:t>
              </a:r>
              <a:endParaRPr sz="1100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71" name="Google Shape;471;p31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32"/>
          <p:cNvGrpSpPr/>
          <p:nvPr/>
        </p:nvGrpSpPr>
        <p:grpSpPr>
          <a:xfrm>
            <a:off x="0" y="0"/>
            <a:ext cx="9144000" cy="82200"/>
            <a:chOff x="0" y="0"/>
            <a:chExt cx="9144000" cy="82200"/>
          </a:xfrm>
        </p:grpSpPr>
        <p:sp>
          <p:nvSpPr>
            <p:cNvPr id="477" name="Google Shape;477;p32"/>
            <p:cNvSpPr/>
            <p:nvPr/>
          </p:nvSpPr>
          <p:spPr>
            <a:xfrm>
              <a:off x="0" y="0"/>
              <a:ext cx="2400300" cy="82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2"/>
            <p:cNvSpPr/>
            <p:nvPr/>
          </p:nvSpPr>
          <p:spPr>
            <a:xfrm>
              <a:off x="2400300" y="0"/>
              <a:ext cx="6743700" cy="82200"/>
            </a:xfrm>
            <a:prstGeom prst="rect">
              <a:avLst/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9" name="Google Shape;479;p32"/>
          <p:cNvSpPr txBox="1"/>
          <p:nvPr/>
        </p:nvSpPr>
        <p:spPr>
          <a:xfrm>
            <a:off x="274320" y="171450"/>
            <a:ext cx="342900" cy="2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1" sz="800">
              <a:solidFill>
                <a:srgbClr val="0055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2"/>
          <p:cNvSpPr txBox="1"/>
          <p:nvPr/>
        </p:nvSpPr>
        <p:spPr>
          <a:xfrm>
            <a:off x="411480" y="274320"/>
            <a:ext cx="82296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📏 Conceitos-chave</a:t>
            </a:r>
            <a:endParaRPr b="1" sz="23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1" name="Google Shape;481;p32"/>
          <p:cNvGrpSpPr/>
          <p:nvPr/>
        </p:nvGrpSpPr>
        <p:grpSpPr>
          <a:xfrm>
            <a:off x="571500" y="952500"/>
            <a:ext cx="8001000" cy="2476500"/>
            <a:chOff x="571500" y="952500"/>
            <a:chExt cx="8001000" cy="2476500"/>
          </a:xfrm>
        </p:grpSpPr>
        <p:sp>
          <p:nvSpPr>
            <p:cNvPr id="482" name="Google Shape;482;p32"/>
            <p:cNvSpPr/>
            <p:nvPr/>
          </p:nvSpPr>
          <p:spPr>
            <a:xfrm>
              <a:off x="571500" y="952500"/>
              <a:ext cx="80010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2"/>
            <p:cNvSpPr/>
            <p:nvPr/>
          </p:nvSpPr>
          <p:spPr>
            <a:xfrm>
              <a:off x="571500" y="952500"/>
              <a:ext cx="8001000" cy="428700"/>
            </a:xfrm>
            <a:prstGeom prst="roundRect">
              <a:avLst>
                <a:gd fmla="val 26666" name="adj"/>
              </a:avLst>
            </a:prstGeom>
            <a:solidFill>
              <a:srgbClr val="0055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2"/>
            <p:cNvSpPr/>
            <p:nvPr/>
          </p:nvSpPr>
          <p:spPr>
            <a:xfrm>
              <a:off x="571500" y="1238250"/>
              <a:ext cx="8001000" cy="142800"/>
            </a:xfrm>
            <a:prstGeom prst="rect">
              <a:avLst/>
            </a:prstGeom>
            <a:solidFill>
              <a:srgbClr val="0055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2"/>
            <p:cNvSpPr txBox="1"/>
            <p:nvPr/>
          </p:nvSpPr>
          <p:spPr>
            <a:xfrm>
              <a:off x="762000" y="100012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Métrica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6" name="Google Shape;486;p32"/>
            <p:cNvSpPr txBox="1"/>
            <p:nvPr/>
          </p:nvSpPr>
          <p:spPr>
            <a:xfrm>
              <a:off x="2667000" y="1000125"/>
              <a:ext cx="3810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 que significa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7" name="Google Shape;487;p32"/>
            <p:cNvSpPr txBox="1"/>
            <p:nvPr/>
          </p:nvSpPr>
          <p:spPr>
            <a:xfrm>
              <a:off x="6667500" y="100012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Critério típico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88" name="Google Shape;488;p32"/>
            <p:cNvGrpSpPr/>
            <p:nvPr/>
          </p:nvGrpSpPr>
          <p:grpSpPr>
            <a:xfrm>
              <a:off x="762000" y="1476375"/>
              <a:ext cx="7620000" cy="333375"/>
              <a:chOff x="762000" y="1476375"/>
              <a:chExt cx="7620000" cy="333375"/>
            </a:xfrm>
          </p:grpSpPr>
          <p:sp>
            <p:nvSpPr>
              <p:cNvPr id="489" name="Google Shape;489;p32"/>
              <p:cNvSpPr txBox="1"/>
              <p:nvPr/>
            </p:nvSpPr>
            <p:spPr>
              <a:xfrm>
                <a:off x="762000" y="1476375"/>
                <a:ext cx="1714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004B8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baseMean</a:t>
                </a:r>
                <a:endParaRPr b="1" sz="1100">
                  <a:solidFill>
                    <a:srgbClr val="004B8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90" name="Google Shape;490;p32"/>
              <p:cNvSpPr txBox="1"/>
              <p:nvPr/>
            </p:nvSpPr>
            <p:spPr>
              <a:xfrm>
                <a:off x="2667000" y="1476375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Média das contagens normalizadas</a:t>
                </a:r>
                <a:endParaRPr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1" name="Google Shape;491;p32"/>
              <p:cNvSpPr txBox="1"/>
              <p:nvPr/>
            </p:nvSpPr>
            <p:spPr>
              <a:xfrm>
                <a:off x="6667500" y="1476375"/>
                <a:ext cx="1714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rgbClr val="9999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—</a:t>
                </a:r>
                <a:endParaRPr sz="1100">
                  <a:solidFill>
                    <a:srgbClr val="99999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92" name="Google Shape;492;p32"/>
              <p:cNvCxnSpPr/>
              <p:nvPr/>
            </p:nvCxnSpPr>
            <p:spPr>
              <a:xfrm>
                <a:off x="762000" y="180975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0F0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93" name="Google Shape;493;p32"/>
            <p:cNvGrpSpPr/>
            <p:nvPr/>
          </p:nvGrpSpPr>
          <p:grpSpPr>
            <a:xfrm>
              <a:off x="762000" y="1857375"/>
              <a:ext cx="7620000" cy="333375"/>
              <a:chOff x="762000" y="1857375"/>
              <a:chExt cx="7620000" cy="333375"/>
            </a:xfrm>
          </p:grpSpPr>
          <p:sp>
            <p:nvSpPr>
              <p:cNvPr id="494" name="Google Shape;494;p32"/>
              <p:cNvSpPr txBox="1"/>
              <p:nvPr/>
            </p:nvSpPr>
            <p:spPr>
              <a:xfrm>
                <a:off x="762000" y="1857375"/>
                <a:ext cx="1714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004B8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log2FoldChange</a:t>
                </a:r>
                <a:endParaRPr b="1" sz="1100">
                  <a:solidFill>
                    <a:srgbClr val="004B8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495" name="Google Shape;495;p32"/>
              <p:cNvSpPr txBox="1"/>
              <p:nvPr/>
            </p:nvSpPr>
            <p:spPr>
              <a:xfrm>
                <a:off x="2667000" y="1857375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Magnitude da mudança (log2)</a:t>
                </a:r>
                <a:endParaRPr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32"/>
              <p:cNvSpPr txBox="1"/>
              <p:nvPr/>
            </p:nvSpPr>
            <p:spPr>
              <a:xfrm>
                <a:off x="6667500" y="1857375"/>
                <a:ext cx="1714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|LFC| &gt; 1</a:t>
                </a:r>
                <a:endParaRPr b="1" sz="11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497" name="Google Shape;497;p32"/>
              <p:cNvCxnSpPr/>
              <p:nvPr/>
            </p:nvCxnSpPr>
            <p:spPr>
              <a:xfrm>
                <a:off x="762000" y="219075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0F0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498" name="Google Shape;498;p32"/>
            <p:cNvGrpSpPr/>
            <p:nvPr/>
          </p:nvGrpSpPr>
          <p:grpSpPr>
            <a:xfrm>
              <a:off x="762000" y="2238375"/>
              <a:ext cx="7620000" cy="333375"/>
              <a:chOff x="762000" y="2238375"/>
              <a:chExt cx="7620000" cy="333375"/>
            </a:xfrm>
          </p:grpSpPr>
          <p:sp>
            <p:nvSpPr>
              <p:cNvPr id="499" name="Google Shape;499;p32"/>
              <p:cNvSpPr txBox="1"/>
              <p:nvPr/>
            </p:nvSpPr>
            <p:spPr>
              <a:xfrm>
                <a:off x="762000" y="2238375"/>
                <a:ext cx="1714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004B8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lfcSE</a:t>
                </a:r>
                <a:endParaRPr b="1" sz="1100">
                  <a:solidFill>
                    <a:srgbClr val="004B8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00" name="Google Shape;500;p32"/>
              <p:cNvSpPr txBox="1"/>
              <p:nvPr/>
            </p:nvSpPr>
            <p:spPr>
              <a:xfrm>
                <a:off x="2667000" y="2238375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Erro padrão do LFC</a:t>
                </a:r>
                <a:endParaRPr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32"/>
              <p:cNvSpPr txBox="1"/>
              <p:nvPr/>
            </p:nvSpPr>
            <p:spPr>
              <a:xfrm>
                <a:off x="6667500" y="2238375"/>
                <a:ext cx="1714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rgbClr val="9999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—</a:t>
                </a:r>
                <a:endParaRPr sz="1100">
                  <a:solidFill>
                    <a:srgbClr val="99999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2" name="Google Shape;502;p32"/>
              <p:cNvCxnSpPr/>
              <p:nvPr/>
            </p:nvCxnSpPr>
            <p:spPr>
              <a:xfrm>
                <a:off x="762000" y="257175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0F0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03" name="Google Shape;503;p32"/>
            <p:cNvGrpSpPr/>
            <p:nvPr/>
          </p:nvGrpSpPr>
          <p:grpSpPr>
            <a:xfrm>
              <a:off x="762000" y="2619375"/>
              <a:ext cx="7620000" cy="333375"/>
              <a:chOff x="762000" y="2619375"/>
              <a:chExt cx="7620000" cy="333375"/>
            </a:xfrm>
          </p:grpSpPr>
          <p:sp>
            <p:nvSpPr>
              <p:cNvPr id="504" name="Google Shape;504;p32"/>
              <p:cNvSpPr txBox="1"/>
              <p:nvPr/>
            </p:nvSpPr>
            <p:spPr>
              <a:xfrm>
                <a:off x="762000" y="2619375"/>
                <a:ext cx="1714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004B8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pvalue</a:t>
                </a:r>
                <a:endParaRPr b="1" sz="1100">
                  <a:solidFill>
                    <a:srgbClr val="004B8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05" name="Google Shape;505;p32"/>
              <p:cNvSpPr txBox="1"/>
              <p:nvPr/>
            </p:nvSpPr>
            <p:spPr>
              <a:xfrm>
                <a:off x="2667000" y="2619375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P-valor (teste de Wald)</a:t>
                </a:r>
                <a:endParaRPr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6" name="Google Shape;506;p32"/>
              <p:cNvSpPr txBox="1"/>
              <p:nvPr/>
            </p:nvSpPr>
            <p:spPr>
              <a:xfrm>
                <a:off x="6667500" y="2619375"/>
                <a:ext cx="1714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rgbClr val="999999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—</a:t>
                </a:r>
                <a:endParaRPr sz="1100">
                  <a:solidFill>
                    <a:srgbClr val="999999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cxnSp>
            <p:nvCxnSpPr>
              <p:cNvPr id="507" name="Google Shape;507;p32"/>
              <p:cNvCxnSpPr/>
              <p:nvPr/>
            </p:nvCxnSpPr>
            <p:spPr>
              <a:xfrm>
                <a:off x="762000" y="2952750"/>
                <a:ext cx="7620000" cy="0"/>
              </a:xfrm>
              <a:prstGeom prst="straightConnector1">
                <a:avLst/>
              </a:prstGeom>
              <a:solidFill>
                <a:srgbClr val="FFFFFF"/>
              </a:solidFill>
              <a:ln cap="flat" cmpd="sng" w="9525">
                <a:solidFill>
                  <a:srgbClr val="F0F0F0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grpSp>
          <p:nvGrpSpPr>
            <p:cNvPr id="508" name="Google Shape;508;p32"/>
            <p:cNvGrpSpPr/>
            <p:nvPr/>
          </p:nvGrpSpPr>
          <p:grpSpPr>
            <a:xfrm>
              <a:off x="762000" y="3000375"/>
              <a:ext cx="7620000" cy="285900"/>
              <a:chOff x="762000" y="3000375"/>
              <a:chExt cx="7620000" cy="285900"/>
            </a:xfrm>
          </p:grpSpPr>
          <p:sp>
            <p:nvSpPr>
              <p:cNvPr id="509" name="Google Shape;509;p32"/>
              <p:cNvSpPr txBox="1"/>
              <p:nvPr/>
            </p:nvSpPr>
            <p:spPr>
              <a:xfrm>
                <a:off x="762000" y="3000375"/>
                <a:ext cx="1714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004B87"/>
                    </a:solidFill>
                    <a:latin typeface="Consolas"/>
                    <a:ea typeface="Consolas"/>
                    <a:cs typeface="Consolas"/>
                    <a:sym typeface="Consolas"/>
                  </a:rPr>
                  <a:t>padj</a:t>
                </a:r>
                <a:endParaRPr b="1" sz="1100">
                  <a:solidFill>
                    <a:srgbClr val="004B87"/>
                  </a:solidFill>
                  <a:latin typeface="Consolas"/>
                  <a:ea typeface="Consolas"/>
                  <a:cs typeface="Consolas"/>
                  <a:sym typeface="Consolas"/>
                </a:endParaRPr>
              </a:p>
            </p:txBody>
          </p:sp>
          <p:sp>
            <p:nvSpPr>
              <p:cNvPr id="510" name="Google Shape;510;p32"/>
              <p:cNvSpPr txBox="1"/>
              <p:nvPr/>
            </p:nvSpPr>
            <p:spPr>
              <a:xfrm>
                <a:off x="2667000" y="3000375"/>
                <a:ext cx="38100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100">
                    <a:solidFill>
                      <a:srgbClr val="333333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P-valor ajustado (Benjamini-Hochberg)</a:t>
                </a:r>
                <a:endParaRPr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1" name="Google Shape;511;p32"/>
              <p:cNvSpPr txBox="1"/>
              <p:nvPr/>
            </p:nvSpPr>
            <p:spPr>
              <a:xfrm>
                <a:off x="6667500" y="3000375"/>
                <a:ext cx="1714500" cy="2859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&lt; 0.05</a:t>
                </a:r>
                <a:endParaRPr b="1" sz="11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512" name="Google Shape;512;p32"/>
          <p:cNvGrpSpPr/>
          <p:nvPr/>
        </p:nvGrpSpPr>
        <p:grpSpPr>
          <a:xfrm>
            <a:off x="571500" y="3619500"/>
            <a:ext cx="8001000" cy="762000"/>
            <a:chOff x="571500" y="3619500"/>
            <a:chExt cx="8001000" cy="762000"/>
          </a:xfrm>
        </p:grpSpPr>
        <p:sp>
          <p:nvSpPr>
            <p:cNvPr id="513" name="Google Shape;513;p32"/>
            <p:cNvSpPr/>
            <p:nvPr/>
          </p:nvSpPr>
          <p:spPr>
            <a:xfrm>
              <a:off x="571500" y="3619500"/>
              <a:ext cx="8001000" cy="762000"/>
            </a:xfrm>
            <a:prstGeom prst="roundRect">
              <a:avLst>
                <a:gd fmla="val 10000" name="adj"/>
              </a:avLst>
            </a:prstGeom>
            <a:solidFill>
              <a:srgbClr val="FFFBEB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32"/>
            <p:cNvSpPr/>
            <p:nvPr/>
          </p:nvSpPr>
          <p:spPr>
            <a:xfrm>
              <a:off x="571500" y="3619500"/>
              <a:ext cx="57300" cy="762000"/>
            </a:xfrm>
            <a:prstGeom prst="roundRect">
              <a:avLst>
                <a:gd fmla="val 50000" name="adj"/>
              </a:avLst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2"/>
            <p:cNvSpPr txBox="1"/>
            <p:nvPr/>
          </p:nvSpPr>
          <p:spPr>
            <a:xfrm>
              <a:off x="809625" y="3714750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⚠️ Atenção:</a:t>
              </a:r>
              <a:r>
                <a:rPr lang="pt-BR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 Sempre use </a:t>
              </a:r>
              <a:r>
                <a:rPr b="1" lang="pt-BR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padj</a:t>
              </a:r>
              <a:r>
                <a:rPr lang="pt-BR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, nunca o p-valor bruto! Com milhares de testes simultâneos, a correção para múltiplos testes é essencial para controlar falsos positivos (FDR).</a:t>
              </a:r>
              <a:endParaRPr sz="11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6" name="Google Shape;516;p32"/>
          <p:cNvSpPr txBox="1"/>
          <p:nvPr/>
        </p:nvSpPr>
        <p:spPr>
          <a:xfrm>
            <a:off x="342900" y="4869180"/>
            <a:ext cx="8458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7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33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33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33"/>
          <p:cNvSpPr txBox="1"/>
          <p:nvPr/>
        </p:nvSpPr>
        <p:spPr>
          <a:xfrm>
            <a:off x="274320" y="171450"/>
            <a:ext cx="342900" cy="2742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68575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1" sz="800">
              <a:solidFill>
                <a:srgbClr val="0055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33"/>
          <p:cNvSpPr txBox="1"/>
          <p:nvPr/>
        </p:nvSpPr>
        <p:spPr>
          <a:xfrm>
            <a:off x="411480" y="274320"/>
            <a:ext cx="8229600" cy="480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68575" spcFirstLastPara="1" rIns="0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📐 Log2 Fold Change — Interpretação</a:t>
            </a:r>
            <a:endParaRPr b="1" sz="23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5" name="Google Shape;525;p33"/>
          <p:cNvGrpSpPr/>
          <p:nvPr/>
        </p:nvGrpSpPr>
        <p:grpSpPr>
          <a:xfrm>
            <a:off x="571500" y="952500"/>
            <a:ext cx="8001000" cy="2476500"/>
            <a:chOff x="571500" y="952500"/>
            <a:chExt cx="8001000" cy="2476500"/>
          </a:xfrm>
        </p:grpSpPr>
        <p:sp>
          <p:nvSpPr>
            <p:cNvPr id="526" name="Google Shape;526;p33"/>
            <p:cNvSpPr/>
            <p:nvPr/>
          </p:nvSpPr>
          <p:spPr>
            <a:xfrm>
              <a:off x="571500" y="952500"/>
              <a:ext cx="8001000" cy="2476500"/>
            </a:xfrm>
            <a:prstGeom prst="roundRect">
              <a:avLst>
                <a:gd fmla="val 461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3"/>
            <p:cNvSpPr/>
            <p:nvPr/>
          </p:nvSpPr>
          <p:spPr>
            <a:xfrm>
              <a:off x="571500" y="952500"/>
              <a:ext cx="8001000" cy="428700"/>
            </a:xfrm>
            <a:prstGeom prst="roundRect">
              <a:avLst>
                <a:gd fmla="val 26666" name="adj"/>
              </a:avLst>
            </a:prstGeom>
            <a:solidFill>
              <a:srgbClr val="0055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3"/>
            <p:cNvSpPr/>
            <p:nvPr/>
          </p:nvSpPr>
          <p:spPr>
            <a:xfrm>
              <a:off x="571500" y="1238250"/>
              <a:ext cx="8001000" cy="142800"/>
            </a:xfrm>
            <a:prstGeom prst="rect">
              <a:avLst/>
            </a:prstGeom>
            <a:solidFill>
              <a:srgbClr val="0055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3"/>
            <p:cNvSpPr txBox="1"/>
            <p:nvPr/>
          </p:nvSpPr>
          <p:spPr>
            <a:xfrm>
              <a:off x="762000" y="100012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log2FC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0" name="Google Shape;530;p33"/>
            <p:cNvSpPr txBox="1"/>
            <p:nvPr/>
          </p:nvSpPr>
          <p:spPr>
            <a:xfrm>
              <a:off x="2667000" y="1000125"/>
              <a:ext cx="17145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Fold Change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1" name="Google Shape;531;p33"/>
            <p:cNvSpPr txBox="1"/>
            <p:nvPr/>
          </p:nvSpPr>
          <p:spPr>
            <a:xfrm>
              <a:off x="4572000" y="1000125"/>
              <a:ext cx="3810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Interpretação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532" name="Google Shape;532;p33"/>
            <p:cNvCxnSpPr/>
            <p:nvPr/>
          </p:nvCxnSpPr>
          <p:spPr>
            <a:xfrm>
              <a:off x="571500" y="1762125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3" name="Google Shape;533;p33"/>
            <p:cNvCxnSpPr/>
            <p:nvPr/>
          </p:nvCxnSpPr>
          <p:spPr>
            <a:xfrm>
              <a:off x="571500" y="2143125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4" name="Google Shape;534;p33"/>
            <p:cNvCxnSpPr/>
            <p:nvPr/>
          </p:nvCxnSpPr>
          <p:spPr>
            <a:xfrm>
              <a:off x="571500" y="2524125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5" name="Google Shape;535;p33"/>
            <p:cNvCxnSpPr/>
            <p:nvPr/>
          </p:nvCxnSpPr>
          <p:spPr>
            <a:xfrm>
              <a:off x="571500" y="2905125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F0F0F0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536" name="Google Shape;536;p33"/>
            <p:cNvSpPr txBox="1"/>
            <p:nvPr/>
          </p:nvSpPr>
          <p:spPr>
            <a:xfrm>
              <a:off x="762000" y="1428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C62828"/>
                  </a:solidFill>
                  <a:latin typeface="Consolas"/>
                  <a:ea typeface="Consolas"/>
                  <a:cs typeface="Consolas"/>
                  <a:sym typeface="Consolas"/>
                </a:rPr>
                <a:t>+2</a:t>
              </a:r>
              <a:endParaRPr b="1" sz="1200">
                <a:solidFill>
                  <a:srgbClr val="C62828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37" name="Google Shape;537;p33"/>
            <p:cNvSpPr txBox="1"/>
            <p:nvPr/>
          </p:nvSpPr>
          <p:spPr>
            <a:xfrm>
              <a:off x="2667000" y="1428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4x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8" name="Google Shape;538;p33"/>
            <p:cNvSpPr txBox="1"/>
            <p:nvPr/>
          </p:nvSpPr>
          <p:spPr>
            <a:xfrm>
              <a:off x="4572000" y="14287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4 vezes mais expresso no tratamento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9" name="Google Shape;539;p33"/>
            <p:cNvSpPr txBox="1"/>
            <p:nvPr/>
          </p:nvSpPr>
          <p:spPr>
            <a:xfrm>
              <a:off x="762000" y="1809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DEA022"/>
                  </a:solidFill>
                  <a:latin typeface="Consolas"/>
                  <a:ea typeface="Consolas"/>
                  <a:cs typeface="Consolas"/>
                  <a:sym typeface="Consolas"/>
                </a:rPr>
                <a:t>+1</a:t>
              </a:r>
              <a:endParaRPr b="1" sz="1200">
                <a:solidFill>
                  <a:srgbClr val="DEA022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0" name="Google Shape;540;p33"/>
            <p:cNvSpPr txBox="1"/>
            <p:nvPr/>
          </p:nvSpPr>
          <p:spPr>
            <a:xfrm>
              <a:off x="2667000" y="1809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2x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1" name="Google Shape;541;p33"/>
            <p:cNvSpPr txBox="1"/>
            <p:nvPr/>
          </p:nvSpPr>
          <p:spPr>
            <a:xfrm>
              <a:off x="4572000" y="18097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2 vezes mais expresso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2" name="Google Shape;542;p33"/>
            <p:cNvSpPr txBox="1"/>
            <p:nvPr/>
          </p:nvSpPr>
          <p:spPr>
            <a:xfrm>
              <a:off x="762000" y="2190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666666"/>
                  </a:solidFill>
                  <a:latin typeface="Consolas"/>
                  <a:ea typeface="Consolas"/>
                  <a:cs typeface="Consolas"/>
                  <a:sym typeface="Consolas"/>
                </a:rPr>
                <a:t>0</a:t>
              </a:r>
              <a:endParaRPr b="1" sz="1200">
                <a:solidFill>
                  <a:srgbClr val="66666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3" name="Google Shape;543;p33"/>
            <p:cNvSpPr txBox="1"/>
            <p:nvPr/>
          </p:nvSpPr>
          <p:spPr>
            <a:xfrm>
              <a:off x="2667000" y="2190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1x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4" name="Google Shape;544;p33"/>
            <p:cNvSpPr txBox="1"/>
            <p:nvPr/>
          </p:nvSpPr>
          <p:spPr>
            <a:xfrm>
              <a:off x="4572000" y="21907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Sem mudança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5" name="Google Shape;545;p33"/>
            <p:cNvSpPr txBox="1"/>
            <p:nvPr/>
          </p:nvSpPr>
          <p:spPr>
            <a:xfrm>
              <a:off x="762000" y="2571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5596"/>
                  </a:solidFill>
                  <a:latin typeface="Consolas"/>
                  <a:ea typeface="Consolas"/>
                  <a:cs typeface="Consolas"/>
                  <a:sym typeface="Consolas"/>
                </a:rPr>
                <a:t>-1</a:t>
              </a:r>
              <a:endParaRPr b="1" sz="1200">
                <a:solidFill>
                  <a:srgbClr val="005596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6" name="Google Shape;546;p33"/>
            <p:cNvSpPr txBox="1"/>
            <p:nvPr/>
          </p:nvSpPr>
          <p:spPr>
            <a:xfrm>
              <a:off x="2667000" y="2571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0.5x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7" name="Google Shape;547;p33"/>
            <p:cNvSpPr txBox="1"/>
            <p:nvPr/>
          </p:nvSpPr>
          <p:spPr>
            <a:xfrm>
              <a:off x="4572000" y="25717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2 vezes menos expresso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8" name="Google Shape;548;p33"/>
            <p:cNvSpPr txBox="1"/>
            <p:nvPr/>
          </p:nvSpPr>
          <p:spPr>
            <a:xfrm>
              <a:off x="762000" y="2952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4B87"/>
                  </a:solidFill>
                  <a:latin typeface="Consolas"/>
                  <a:ea typeface="Consolas"/>
                  <a:cs typeface="Consolas"/>
                  <a:sym typeface="Consolas"/>
                </a:rPr>
                <a:t>-2</a:t>
              </a:r>
              <a:endParaRPr b="1" sz="1200">
                <a:solidFill>
                  <a:srgbClr val="004B87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549" name="Google Shape;549;p33"/>
            <p:cNvSpPr txBox="1"/>
            <p:nvPr/>
          </p:nvSpPr>
          <p:spPr>
            <a:xfrm>
              <a:off x="2667000" y="2952750"/>
              <a:ext cx="1714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0.25x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33"/>
            <p:cNvSpPr txBox="1"/>
            <p:nvPr/>
          </p:nvSpPr>
          <p:spPr>
            <a:xfrm>
              <a:off x="4572000" y="2952750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4 vezes menos expresso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51" name="Google Shape;551;p33"/>
          <p:cNvGrpSpPr/>
          <p:nvPr/>
        </p:nvGrpSpPr>
        <p:grpSpPr>
          <a:xfrm>
            <a:off x="571500" y="3619500"/>
            <a:ext cx="8001000" cy="571500"/>
            <a:chOff x="571500" y="3619500"/>
            <a:chExt cx="8001000" cy="571500"/>
          </a:xfrm>
        </p:grpSpPr>
        <p:sp>
          <p:nvSpPr>
            <p:cNvPr id="552" name="Google Shape;552;p33"/>
            <p:cNvSpPr/>
            <p:nvPr/>
          </p:nvSpPr>
          <p:spPr>
            <a:xfrm>
              <a:off x="571500" y="3619500"/>
              <a:ext cx="8001000" cy="571500"/>
            </a:xfrm>
            <a:prstGeom prst="roundRect">
              <a:avLst>
                <a:gd fmla="val 13333" name="adj"/>
              </a:avLst>
            </a:prstGeom>
            <a:solidFill>
              <a:srgbClr val="FFFBEB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3"/>
            <p:cNvSpPr/>
            <p:nvPr/>
          </p:nvSpPr>
          <p:spPr>
            <a:xfrm>
              <a:off x="571500" y="3619500"/>
              <a:ext cx="57300" cy="571500"/>
            </a:xfrm>
            <a:prstGeom prst="roundRect">
              <a:avLst>
                <a:gd fmla="val 50000" name="adj"/>
              </a:avLst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3"/>
            <p:cNvSpPr txBox="1"/>
            <p:nvPr/>
          </p:nvSpPr>
          <p:spPr>
            <a:xfrm>
              <a:off x="809625" y="3619500"/>
              <a:ext cx="752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Escala logarítmica torna a comparação simétrica:</a:t>
              </a:r>
              <a:r>
                <a:rPr b="0" lang="pt-BR" sz="11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 +1 e -1 representam a mesma magnitude de mudança.</a:t>
              </a:r>
              <a:endParaRPr b="0" sz="11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5" name="Google Shape;555;p33"/>
          <p:cNvSpPr txBox="1"/>
          <p:nvPr/>
        </p:nvSpPr>
        <p:spPr>
          <a:xfrm>
            <a:off x="342900" y="4869180"/>
            <a:ext cx="8458200" cy="2058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7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559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4"/>
          <p:cNvSpPr/>
          <p:nvPr/>
        </p:nvSpPr>
        <p:spPr>
          <a:xfrm>
            <a:off x="0" y="0"/>
            <a:ext cx="2400300" cy="82296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4"/>
          <p:cNvSpPr/>
          <p:nvPr/>
        </p:nvSpPr>
        <p:spPr>
          <a:xfrm>
            <a:off x="2400300" y="0"/>
            <a:ext cx="6743471" cy="82296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4"/>
          <p:cNvSpPr txBox="1"/>
          <p:nvPr/>
        </p:nvSpPr>
        <p:spPr>
          <a:xfrm>
            <a:off x="685800" y="10287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💻</a:t>
            </a:r>
            <a:endParaRPr sz="1100"/>
          </a:p>
        </p:txBody>
      </p:sp>
      <p:sp>
        <p:nvSpPr>
          <p:cNvPr id="563" name="Google Shape;563;p34"/>
          <p:cNvSpPr txBox="1"/>
          <p:nvPr/>
        </p:nvSpPr>
        <p:spPr>
          <a:xfrm>
            <a:off x="685800" y="192024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Prática — DESeq2 no R</a:t>
            </a:r>
            <a:endParaRPr sz="1100"/>
          </a:p>
        </p:txBody>
      </p:sp>
      <p:sp>
        <p:nvSpPr>
          <p:cNvPr id="564" name="Google Shape;564;p34"/>
          <p:cNvSpPr txBox="1"/>
          <p:nvPr/>
        </p:nvSpPr>
        <p:spPr>
          <a:xfrm>
            <a:off x="685800" y="260604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Mãos na massa!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9" name="Google Shape;569;p35"/>
          <p:cNvGrpSpPr/>
          <p:nvPr/>
        </p:nvGrpSpPr>
        <p:grpSpPr>
          <a:xfrm>
            <a:off x="0" y="0"/>
            <a:ext cx="9144000" cy="754320"/>
            <a:chOff x="0" y="0"/>
            <a:chExt cx="9144000" cy="754320"/>
          </a:xfrm>
        </p:grpSpPr>
        <p:sp>
          <p:nvSpPr>
            <p:cNvPr id="570" name="Google Shape;570;p35"/>
            <p:cNvSpPr/>
            <p:nvPr/>
          </p:nvSpPr>
          <p:spPr>
            <a:xfrm>
              <a:off x="0" y="0"/>
              <a:ext cx="2400300" cy="82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5"/>
            <p:cNvSpPr/>
            <p:nvPr/>
          </p:nvSpPr>
          <p:spPr>
            <a:xfrm>
              <a:off x="2400300" y="0"/>
              <a:ext cx="6743700" cy="82200"/>
            </a:xfrm>
            <a:prstGeom prst="rect">
              <a:avLst/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5"/>
            <p:cNvSpPr txBox="1"/>
            <p:nvPr/>
          </p:nvSpPr>
          <p:spPr>
            <a:xfrm>
              <a:off x="274320" y="171450"/>
              <a:ext cx="342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b="1" sz="8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3" name="Google Shape;573;p35"/>
            <p:cNvSpPr txBox="1"/>
            <p:nvPr/>
          </p:nvSpPr>
          <p:spPr>
            <a:xfrm>
              <a:off x="411480" y="274320"/>
              <a:ext cx="8229600" cy="4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300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📂 Importar os dados (HTSeq-count)</a:t>
              </a:r>
              <a:endParaRPr b="1" sz="2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74" name="Google Shape;574;p35"/>
          <p:cNvGrpSpPr/>
          <p:nvPr/>
        </p:nvGrpSpPr>
        <p:grpSpPr>
          <a:xfrm>
            <a:off x="457200" y="914400"/>
            <a:ext cx="8229600" cy="3429000"/>
            <a:chOff x="457200" y="914400"/>
            <a:chExt cx="8229600" cy="3429000"/>
          </a:xfrm>
        </p:grpSpPr>
        <p:sp>
          <p:nvSpPr>
            <p:cNvPr id="575" name="Google Shape;575;p35"/>
            <p:cNvSpPr/>
            <p:nvPr/>
          </p:nvSpPr>
          <p:spPr>
            <a:xfrm>
              <a:off x="457200" y="914400"/>
              <a:ext cx="8229600" cy="3429000"/>
            </a:xfrm>
            <a:prstGeom prst="roundRect">
              <a:avLst>
                <a:gd fmla="val 5555" name="adj"/>
              </a:avLst>
            </a:prstGeom>
            <a:solidFill>
              <a:srgbClr val="FFFFFF"/>
            </a:solidFill>
            <a:ln cap="flat" cmpd="sng" w="9525">
              <a:solidFill>
                <a:srgbClr val="E0E0E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5"/>
            <p:cNvSpPr/>
            <p:nvPr/>
          </p:nvSpPr>
          <p:spPr>
            <a:xfrm>
              <a:off x="457200" y="914400"/>
              <a:ext cx="8229600" cy="381000"/>
            </a:xfrm>
            <a:prstGeom prst="roundRect">
              <a:avLst>
                <a:gd fmla="val 50000" name="adj"/>
              </a:avLst>
            </a:prstGeom>
            <a:solidFill>
              <a:srgbClr val="0055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5"/>
            <p:cNvSpPr/>
            <p:nvPr/>
          </p:nvSpPr>
          <p:spPr>
            <a:xfrm>
              <a:off x="457200" y="1104900"/>
              <a:ext cx="8229600" cy="190500"/>
            </a:xfrm>
            <a:prstGeom prst="rect">
              <a:avLst/>
            </a:prstGeom>
            <a:solidFill>
              <a:srgbClr val="005596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5"/>
            <p:cNvSpPr txBox="1"/>
            <p:nvPr/>
          </p:nvSpPr>
          <p:spPr>
            <a:xfrm>
              <a:off x="647700" y="952500"/>
              <a:ext cx="7848600" cy="3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Script R: Carregamento de Metadados e Definição de Fatores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9" name="Google Shape;579;p35"/>
            <p:cNvSpPr txBox="1"/>
            <p:nvPr/>
          </p:nvSpPr>
          <p:spPr>
            <a:xfrm>
              <a:off x="647700" y="1381125"/>
              <a:ext cx="7848600" cy="280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Ler a tabela de metadados das amostras</a:t>
              </a:r>
              <a:endParaRPr sz="13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sample_table &lt;- read.csv(file.path("data", "metadata_htseq.csv"),</a:t>
              </a:r>
              <a:endParaRPr sz="13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3810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header = TRUE)</a:t>
              </a:r>
              <a:endParaRPr sz="13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Definir condição como fator (controle = referência)</a:t>
              </a:r>
              <a:endParaRPr sz="13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sample_table$condition &lt;- factor(</a:t>
              </a:r>
              <a:endParaRPr sz="13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381000" marR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sample_table$condition,</a:t>
              </a:r>
              <a:endParaRPr sz="13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3810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levels = c("controle", "tratamento"))</a:t>
              </a:r>
              <a:endParaRPr sz="13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50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Visualizar tabela</a:t>
              </a:r>
              <a:endParaRPr sz="13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3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print(sample_table)</a:t>
              </a:r>
              <a:endParaRPr sz="13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80" name="Google Shape;580;p35"/>
          <p:cNvGrpSpPr/>
          <p:nvPr/>
        </p:nvGrpSpPr>
        <p:grpSpPr>
          <a:xfrm>
            <a:off x="457200" y="4476750"/>
            <a:ext cx="8229600" cy="476400"/>
            <a:chOff x="457200" y="4476750"/>
            <a:chExt cx="8229600" cy="476400"/>
          </a:xfrm>
        </p:grpSpPr>
        <p:sp>
          <p:nvSpPr>
            <p:cNvPr id="581" name="Google Shape;581;p35"/>
            <p:cNvSpPr/>
            <p:nvPr/>
          </p:nvSpPr>
          <p:spPr>
            <a:xfrm>
              <a:off x="457200" y="4476750"/>
              <a:ext cx="8229600" cy="476400"/>
            </a:xfrm>
            <a:prstGeom prst="roundRect">
              <a:avLst>
                <a:gd fmla="val 16000" name="adj"/>
              </a:avLst>
            </a:prstGeom>
            <a:solidFill>
              <a:srgbClr val="FFFBEB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5"/>
            <p:cNvSpPr/>
            <p:nvPr/>
          </p:nvSpPr>
          <p:spPr>
            <a:xfrm>
              <a:off x="457200" y="4476750"/>
              <a:ext cx="57300" cy="476400"/>
            </a:xfrm>
            <a:prstGeom prst="roundRect">
              <a:avLst>
                <a:gd fmla="val 50000" name="adj"/>
              </a:avLst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5"/>
            <p:cNvSpPr txBox="1"/>
            <p:nvPr/>
          </p:nvSpPr>
          <p:spPr>
            <a:xfrm>
              <a:off x="619125" y="4476750"/>
              <a:ext cx="79059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0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ℹ️ Dica: </a:t>
              </a:r>
              <a:r>
                <a:rPr b="0" lang="pt-BR" sz="105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Certifique-se de que o arquivo CSV está na pasta 'data' do seu projeto antes de executar o comando.</a:t>
              </a:r>
              <a:endParaRPr b="1" sz="105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84" name="Google Shape;584;p35"/>
          <p:cNvSpPr txBox="1"/>
          <p:nvPr/>
        </p:nvSpPr>
        <p:spPr>
          <a:xfrm>
            <a:off x="342900" y="4869180"/>
            <a:ext cx="8458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7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89" name="Google Shape;589;p36"/>
          <p:cNvGrpSpPr/>
          <p:nvPr/>
        </p:nvGrpSpPr>
        <p:grpSpPr>
          <a:xfrm>
            <a:off x="0" y="0"/>
            <a:ext cx="9144000" cy="743100"/>
            <a:chOff x="0" y="0"/>
            <a:chExt cx="9144000" cy="743100"/>
          </a:xfrm>
        </p:grpSpPr>
        <p:sp>
          <p:nvSpPr>
            <p:cNvPr id="590" name="Google Shape;590;p36"/>
            <p:cNvSpPr/>
            <p:nvPr/>
          </p:nvSpPr>
          <p:spPr>
            <a:xfrm>
              <a:off x="0" y="0"/>
              <a:ext cx="2400300" cy="82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6"/>
            <p:cNvSpPr/>
            <p:nvPr/>
          </p:nvSpPr>
          <p:spPr>
            <a:xfrm>
              <a:off x="2400300" y="0"/>
              <a:ext cx="6743700" cy="82200"/>
            </a:xfrm>
            <a:prstGeom prst="rect">
              <a:avLst/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6"/>
            <p:cNvSpPr txBox="1"/>
            <p:nvPr/>
          </p:nvSpPr>
          <p:spPr>
            <a:xfrm>
              <a:off x="266700" y="171450"/>
              <a:ext cx="342900" cy="266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b="1" sz="8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3" name="Google Shape;593;p36"/>
            <p:cNvSpPr txBox="1"/>
            <p:nvPr/>
          </p:nvSpPr>
          <p:spPr>
            <a:xfrm>
              <a:off x="409575" y="266700"/>
              <a:ext cx="82296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300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🏷️ Construir DESeqDataSet + Executar DESeq2</a:t>
              </a:r>
              <a:endParaRPr b="1" sz="2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94" name="Google Shape;594;p36"/>
          <p:cNvGrpSpPr/>
          <p:nvPr/>
        </p:nvGrpSpPr>
        <p:grpSpPr>
          <a:xfrm>
            <a:off x="457200" y="857250"/>
            <a:ext cx="4019700" cy="1428900"/>
            <a:chOff x="457200" y="857250"/>
            <a:chExt cx="4019700" cy="1428900"/>
          </a:xfrm>
        </p:grpSpPr>
        <p:sp>
          <p:nvSpPr>
            <p:cNvPr id="595" name="Google Shape;595;p36"/>
            <p:cNvSpPr/>
            <p:nvPr/>
          </p:nvSpPr>
          <p:spPr>
            <a:xfrm>
              <a:off x="457200" y="857250"/>
              <a:ext cx="4019700" cy="1428900"/>
            </a:xfrm>
            <a:prstGeom prst="roundRect">
              <a:avLst>
                <a:gd fmla="val 8000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596" name="Google Shape;596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57200" y="857250"/>
              <a:ext cx="40197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7" name="Google Shape;597;p36"/>
            <p:cNvSpPr txBox="1"/>
            <p:nvPr/>
          </p:nvSpPr>
          <p:spPr>
            <a:xfrm>
              <a:off x="571500" y="857250"/>
              <a:ext cx="3810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1. Criar DESeqDataSet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8" name="Google Shape;598;p36"/>
            <p:cNvSpPr txBox="1"/>
            <p:nvPr/>
          </p:nvSpPr>
          <p:spPr>
            <a:xfrm>
              <a:off x="571500" y="1238250"/>
              <a:ext cx="38100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A partir do HTSeq-Count</a:t>
              </a:r>
              <a:endParaRPr sz="9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dds &lt;- DESeqDataSetFromHTSeqCount(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sampleTable = sample_table,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directory = dir_data,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design = ~ condition)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599" name="Google Shape;599;p36"/>
          <p:cNvGrpSpPr/>
          <p:nvPr/>
        </p:nvGrpSpPr>
        <p:grpSpPr>
          <a:xfrm>
            <a:off x="4667250" y="857250"/>
            <a:ext cx="4019700" cy="3429000"/>
            <a:chOff x="4667250" y="857250"/>
            <a:chExt cx="4019700" cy="3429000"/>
          </a:xfrm>
        </p:grpSpPr>
        <p:sp>
          <p:nvSpPr>
            <p:cNvPr id="600" name="Google Shape;600;p36"/>
            <p:cNvSpPr/>
            <p:nvPr/>
          </p:nvSpPr>
          <p:spPr>
            <a:xfrm>
              <a:off x="4667250" y="857250"/>
              <a:ext cx="40197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01" name="Google Shape;601;p3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4667250" y="857250"/>
              <a:ext cx="4019700" cy="3333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2" name="Google Shape;602;p36"/>
            <p:cNvSpPr txBox="1"/>
            <p:nvPr/>
          </p:nvSpPr>
          <p:spPr>
            <a:xfrm>
              <a:off x="4781550" y="857250"/>
              <a:ext cx="3810000" cy="333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2. Filtragem e Execução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6"/>
            <p:cNvSpPr txBox="1"/>
            <p:nvPr/>
          </p:nvSpPr>
          <p:spPr>
            <a:xfrm>
              <a:off x="4781550" y="1238250"/>
              <a:ext cx="3810000" cy="295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Pré-filtragem (&gt;= 10 reads)</a:t>
              </a:r>
              <a:endParaRPr sz="9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keep &lt;- rowSums(counts(dds)) &gt;= 10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dds &lt;- dds[keep, ]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Executar DESeq2</a:t>
              </a:r>
              <a:endParaRPr sz="9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dds &lt;- DESeq(dds)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Extrair resultados</a:t>
              </a:r>
              <a:endParaRPr sz="9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res &lt;- results(dds,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contrast = c("condition",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45720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"tratamento",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45720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"controle"),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457200" lvl="0" marL="45720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5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alpha = 0.05)</a:t>
              </a:r>
              <a:endParaRPr sz="9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04" name="Google Shape;604;p36"/>
          <p:cNvGrpSpPr/>
          <p:nvPr/>
        </p:nvGrpSpPr>
        <p:grpSpPr>
          <a:xfrm>
            <a:off x="457200" y="2476500"/>
            <a:ext cx="4019700" cy="571500"/>
            <a:chOff x="457200" y="2476500"/>
            <a:chExt cx="4019700" cy="571500"/>
          </a:xfrm>
        </p:grpSpPr>
        <p:sp>
          <p:nvSpPr>
            <p:cNvPr id="605" name="Google Shape;605;p36"/>
            <p:cNvSpPr/>
            <p:nvPr/>
          </p:nvSpPr>
          <p:spPr>
            <a:xfrm>
              <a:off x="457200" y="2476500"/>
              <a:ext cx="4019700" cy="571500"/>
            </a:xfrm>
            <a:prstGeom prst="roundRect">
              <a:avLst>
                <a:gd fmla="val 13333" name="adj"/>
              </a:avLst>
            </a:prstGeom>
            <a:solidFill>
              <a:srgbClr val="FFFBEB"/>
            </a:solidFill>
            <a:ln cap="flat" cmpd="sng" w="9525">
              <a:solidFill>
                <a:srgbClr val="FDE68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606" name="Google Shape;606;p3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7200" y="2476500"/>
              <a:ext cx="57300" cy="5715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7" name="Google Shape;607;p36"/>
            <p:cNvSpPr txBox="1"/>
            <p:nvPr/>
          </p:nvSpPr>
          <p:spPr>
            <a:xfrm>
              <a:off x="619125" y="2476500"/>
              <a:ext cx="37149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⚠️ </a:t>
              </a:r>
              <a:r>
                <a:rPr b="1" lang="pt-BR" sz="10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Importante:</a:t>
              </a:r>
              <a:r>
                <a:rPr lang="pt-BR" sz="1000">
                  <a:solidFill>
                    <a:srgbClr val="92400E"/>
                  </a:solidFill>
                  <a:latin typeface="Calibri"/>
                  <a:ea typeface="Calibri"/>
                  <a:cs typeface="Calibri"/>
                  <a:sym typeface="Calibri"/>
                </a:rPr>
                <a:t> O nível de referência (controle) deve ser o primeiro nível do fator.</a:t>
              </a:r>
              <a:endParaRPr sz="1000">
                <a:solidFill>
                  <a:srgbClr val="92400E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608" name="Google Shape;608;p36"/>
          <p:cNvSpPr txBox="1"/>
          <p:nvPr/>
        </p:nvSpPr>
        <p:spPr>
          <a:xfrm>
            <a:off x="342900" y="4867275"/>
            <a:ext cx="84582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7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612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37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4" name="Google Shape;614;p37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5" name="Google Shape;615;p37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/>
          </a:p>
        </p:txBody>
      </p:sp>
      <p:sp>
        <p:nvSpPr>
          <p:cNvPr id="616" name="Google Shape;616;p37"/>
          <p:cNvSpPr txBox="1"/>
          <p:nvPr/>
        </p:nvSpPr>
        <p:spPr>
          <a:xfrm>
            <a:off x="411480" y="274320"/>
            <a:ext cx="8229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📉  LFC Shrinkage</a:t>
            </a:r>
            <a:endParaRPr sz="1100"/>
          </a:p>
        </p:txBody>
      </p:sp>
      <p:grpSp>
        <p:nvGrpSpPr>
          <p:cNvPr id="617" name="Google Shape;617;p37"/>
          <p:cNvGrpSpPr/>
          <p:nvPr/>
        </p:nvGrpSpPr>
        <p:grpSpPr>
          <a:xfrm>
            <a:off x="457200" y="914400"/>
            <a:ext cx="4019700" cy="3429000"/>
            <a:chOff x="457200" y="914400"/>
            <a:chExt cx="4019700" cy="3429000"/>
          </a:xfrm>
        </p:grpSpPr>
        <p:sp>
          <p:nvSpPr>
            <p:cNvPr id="618" name="Google Shape;618;p37"/>
            <p:cNvSpPr/>
            <p:nvPr/>
          </p:nvSpPr>
          <p:spPr>
            <a:xfrm>
              <a:off x="457200" y="914400"/>
              <a:ext cx="40197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37"/>
            <p:cNvSpPr/>
            <p:nvPr/>
          </p:nvSpPr>
          <p:spPr>
            <a:xfrm>
              <a:off x="457200" y="914400"/>
              <a:ext cx="4019700" cy="381000"/>
            </a:xfrm>
            <a:prstGeom prst="roundRect">
              <a:avLst>
                <a:gd fmla="val 3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37"/>
            <p:cNvSpPr/>
            <p:nvPr/>
          </p:nvSpPr>
          <p:spPr>
            <a:xfrm>
              <a:off x="457200" y="1104900"/>
              <a:ext cx="4019700" cy="190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37"/>
            <p:cNvSpPr txBox="1"/>
            <p:nvPr/>
          </p:nvSpPr>
          <p:spPr>
            <a:xfrm>
              <a:off x="457200" y="914400"/>
              <a:ext cx="4019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📉 LFC Shrinkage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2" name="Google Shape;622;p37"/>
            <p:cNvSpPr txBox="1"/>
            <p:nvPr/>
          </p:nvSpPr>
          <p:spPr>
            <a:xfrm>
              <a:off x="647700" y="1390650"/>
              <a:ext cx="3638700" cy="76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Por que fazer shrinkage?</a:t>
              </a:r>
              <a:endParaRPr b="1" sz="11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60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Genes com poucas reads podem ter log2FC extremos e ruidosos. O shrinkage "encolhe" esses valores em direção a zero, mantendo os LFCs de genes bem expressos.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3" name="Google Shape;623;p37"/>
            <p:cNvSpPr/>
            <p:nvPr/>
          </p:nvSpPr>
          <p:spPr>
            <a:xfrm>
              <a:off x="647700" y="2286000"/>
              <a:ext cx="3638700" cy="1143000"/>
            </a:xfrm>
            <a:prstGeom prst="roundRect">
              <a:avLst>
                <a:gd fmla="val 6666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37"/>
            <p:cNvSpPr txBox="1"/>
            <p:nvPr/>
          </p:nvSpPr>
          <p:spPr>
            <a:xfrm>
              <a:off x="742950" y="2381250"/>
              <a:ext cx="3448200" cy="952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6A9955"/>
                  </a:solidFill>
                  <a:latin typeface="Consolas"/>
                  <a:ea typeface="Consolas"/>
                  <a:cs typeface="Consolas"/>
                  <a:sym typeface="Consolas"/>
                </a:rPr>
                <a:t># Shrinkage com método "normal"</a:t>
              </a:r>
              <a:endParaRPr sz="100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res_shrunk &lt;- lfcShrink(dds,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contrast = c("condition",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"tratamento", "controle"),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type = "normal")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625" name="Google Shape;625;p37"/>
          <p:cNvGrpSpPr/>
          <p:nvPr/>
        </p:nvGrpSpPr>
        <p:grpSpPr>
          <a:xfrm>
            <a:off x="4667250" y="914400"/>
            <a:ext cx="4019700" cy="3429000"/>
            <a:chOff x="4667250" y="914400"/>
            <a:chExt cx="4019700" cy="3429000"/>
          </a:xfrm>
        </p:grpSpPr>
        <p:sp>
          <p:nvSpPr>
            <p:cNvPr id="626" name="Google Shape;626;p37"/>
            <p:cNvSpPr/>
            <p:nvPr/>
          </p:nvSpPr>
          <p:spPr>
            <a:xfrm>
              <a:off x="4667250" y="914400"/>
              <a:ext cx="4019700" cy="3429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37"/>
            <p:cNvSpPr/>
            <p:nvPr/>
          </p:nvSpPr>
          <p:spPr>
            <a:xfrm>
              <a:off x="4667250" y="914400"/>
              <a:ext cx="4019700" cy="381000"/>
            </a:xfrm>
            <a:prstGeom prst="roundRect">
              <a:avLst>
                <a:gd fmla="val 3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37"/>
            <p:cNvSpPr/>
            <p:nvPr/>
          </p:nvSpPr>
          <p:spPr>
            <a:xfrm>
              <a:off x="4667250" y="1104900"/>
              <a:ext cx="4019700" cy="1905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37"/>
            <p:cNvSpPr txBox="1"/>
            <p:nvPr/>
          </p:nvSpPr>
          <p:spPr>
            <a:xfrm>
              <a:off x="4667250" y="914400"/>
              <a:ext cx="40197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🔎 QC: PCA Plot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7"/>
            <p:cNvSpPr/>
            <p:nvPr/>
          </p:nvSpPr>
          <p:spPr>
            <a:xfrm>
              <a:off x="4857750" y="1390650"/>
              <a:ext cx="3638700" cy="666900"/>
            </a:xfrm>
            <a:prstGeom prst="roundRect">
              <a:avLst>
                <a:gd fmla="val 11428" name="adj"/>
              </a:avLst>
            </a:prstGeom>
            <a:solidFill>
              <a:srgbClr val="F8FAFC"/>
            </a:solidFill>
            <a:ln cap="flat" cmpd="sng" w="9525">
              <a:solidFill>
                <a:srgbClr val="CBD5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37"/>
            <p:cNvSpPr txBox="1"/>
            <p:nvPr/>
          </p:nvSpPr>
          <p:spPr>
            <a:xfrm>
              <a:off x="4953000" y="1485900"/>
              <a:ext cx="3448200" cy="476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vsd &lt;- vst(dds, blind = TRUE)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plotPCA(vsd, intgroup = "condition")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  <p:sp>
          <p:nvSpPr>
            <p:cNvPr id="632" name="Google Shape;632;p37"/>
            <p:cNvSpPr txBox="1"/>
            <p:nvPr/>
          </p:nvSpPr>
          <p:spPr>
            <a:xfrm>
              <a:off x="4857750" y="2190750"/>
              <a:ext cx="36387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75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Amostras da mesma condição devem agrupar juntas. Se não agruparem → investigar batch effects ou outliers.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3" name="Google Shape;633;p37"/>
            <p:cNvGrpSpPr/>
            <p:nvPr/>
          </p:nvGrpSpPr>
          <p:grpSpPr>
            <a:xfrm>
              <a:off x="6486525" y="3143250"/>
              <a:ext cx="381000" cy="407289"/>
              <a:chOff x="0" y="0"/>
              <a:chExt cx="381000" cy="407289"/>
            </a:xfrm>
          </p:grpSpPr>
          <p:sp>
            <p:nvSpPr>
              <p:cNvPr id="634" name="Google Shape;634;p37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FFFBEB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37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pt-BR" sz="1800">
                    <a:solidFill>
                      <a:srgbClr val="DEA022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info</a:t>
                </a:r>
                <a:endParaRPr sz="1800">
                  <a:solidFill>
                    <a:srgbClr val="DEA022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</p:grpSp>
      <p:sp>
        <p:nvSpPr>
          <p:cNvPr id="636" name="Google Shape;636;p37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38"/>
          <p:cNvSpPr/>
          <p:nvPr/>
        </p:nvSpPr>
        <p:spPr>
          <a:xfrm>
            <a:off x="0" y="0"/>
            <a:ext cx="2400300" cy="82296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38"/>
          <p:cNvSpPr/>
          <p:nvPr/>
        </p:nvSpPr>
        <p:spPr>
          <a:xfrm>
            <a:off x="2400300" y="0"/>
            <a:ext cx="6743471" cy="82296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38"/>
          <p:cNvSpPr txBox="1"/>
          <p:nvPr/>
        </p:nvSpPr>
        <p:spPr>
          <a:xfrm>
            <a:off x="685800" y="10287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🎯</a:t>
            </a:r>
            <a:endParaRPr sz="1100"/>
          </a:p>
        </p:txBody>
      </p:sp>
      <p:sp>
        <p:nvSpPr>
          <p:cNvPr id="644" name="Google Shape;644;p38"/>
          <p:cNvSpPr txBox="1"/>
          <p:nvPr/>
        </p:nvSpPr>
        <p:spPr>
          <a:xfrm>
            <a:off x="685800" y="192024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Métricas de Qualidade</a:t>
            </a:r>
            <a:endParaRPr sz="1100"/>
          </a:p>
        </p:txBody>
      </p:sp>
      <p:sp>
        <p:nvSpPr>
          <p:cNvPr id="645" name="Google Shape;645;p38"/>
          <p:cNvSpPr txBox="1"/>
          <p:nvPr/>
        </p:nvSpPr>
        <p:spPr>
          <a:xfrm>
            <a:off x="685800" y="260604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MA Plot &amp; Volcano Plot</a:t>
            </a:r>
            <a:endParaRPr sz="11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p39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1" name="Google Shape;651;p39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39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3" name="Google Shape;653;p39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39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1" sz="800">
              <a:solidFill>
                <a:srgbClr val="0055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5" name="Google Shape;655;p39"/>
          <p:cNvSpPr txBox="1"/>
          <p:nvPr/>
        </p:nvSpPr>
        <p:spPr>
          <a:xfrm>
            <a:off x="411480" y="274320"/>
            <a:ext cx="8229600" cy="468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59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📊 MA Plot</a:t>
            </a:r>
            <a:endParaRPr b="1" sz="259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6" name="Google Shape;656;p39"/>
          <p:cNvSpPr/>
          <p:nvPr/>
        </p:nvSpPr>
        <p:spPr>
          <a:xfrm>
            <a:off x="457200" y="952500"/>
            <a:ext cx="4019700" cy="3429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7" name="Google Shape;657;p39"/>
          <p:cNvSpPr/>
          <p:nvPr/>
        </p:nvSpPr>
        <p:spPr>
          <a:xfrm>
            <a:off x="457200" y="952500"/>
            <a:ext cx="4019700" cy="381000"/>
          </a:xfrm>
          <a:prstGeom prst="roundRect">
            <a:avLst>
              <a:gd fmla="val 30000" name="adj"/>
            </a:avLst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39"/>
          <p:cNvSpPr/>
          <p:nvPr/>
        </p:nvSpPr>
        <p:spPr>
          <a:xfrm>
            <a:off x="457200" y="1143000"/>
            <a:ext cx="4019700" cy="1905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39"/>
          <p:cNvSpPr txBox="1"/>
          <p:nvPr/>
        </p:nvSpPr>
        <p:spPr>
          <a:xfrm>
            <a:off x="457200" y="952500"/>
            <a:ext cx="401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Interpretando o Gráfico</a:t>
            </a:r>
            <a:endParaRPr b="1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0" name="Google Shape;660;p39"/>
          <p:cNvSpPr txBox="1"/>
          <p:nvPr/>
        </p:nvSpPr>
        <p:spPr>
          <a:xfrm>
            <a:off x="647700" y="1428750"/>
            <a:ext cx="36387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Como ler?</a:t>
            </a:r>
            <a:endParaRPr b="1" sz="11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1" lang="pt-BR" sz="110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rPr>
              <a:t>Eixo X:</a:t>
            </a: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baseMean (média de expressão)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1" lang="pt-BR" sz="110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rPr>
              <a:t>Eixo Y:</a:t>
            </a: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log2 Fold Change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1" lang="pt-BR" sz="110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rPr>
              <a:t>Pontos vermelhos:</a:t>
            </a: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genes significativos (padj &lt; 0.05)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b="1" lang="pt-BR" sz="110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rPr>
              <a:t>Pontos cinza:</a:t>
            </a: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não significativos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1" name="Google Shape;661;p39"/>
          <p:cNvSpPr txBox="1"/>
          <p:nvPr/>
        </p:nvSpPr>
        <p:spPr>
          <a:xfrm>
            <a:off x="647700" y="2857500"/>
            <a:ext cx="3638700" cy="12384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O que verificar:</a:t>
            </a:r>
            <a:endParaRPr b="1" sz="11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Distribuição simétrica em torno de LFC = 0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Maior "ruído" em genes pouco expressos (esquerda)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400"/>
              </a:spcBef>
              <a:spcAft>
                <a:spcPts val="0"/>
              </a:spcAft>
              <a:buClr>
                <a:srgbClr val="333333"/>
              </a:buClr>
              <a:buSzPts val="1100"/>
              <a:buFont typeface="Calibri"/>
              <a:buChar char="●"/>
            </a:pP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Efeito do shrinkage nos extremos</a:t>
            </a:r>
            <a:endParaRPr sz="110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2" name="Google Shape;662;p39"/>
          <p:cNvSpPr/>
          <p:nvPr/>
        </p:nvSpPr>
        <p:spPr>
          <a:xfrm>
            <a:off x="4667250" y="952500"/>
            <a:ext cx="4019700" cy="3429000"/>
          </a:xfrm>
          <a:prstGeom prst="roundRect">
            <a:avLst>
              <a:gd fmla="val 3333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39"/>
          <p:cNvSpPr/>
          <p:nvPr/>
        </p:nvSpPr>
        <p:spPr>
          <a:xfrm>
            <a:off x="4667250" y="952500"/>
            <a:ext cx="4019700" cy="381000"/>
          </a:xfrm>
          <a:prstGeom prst="roundRect">
            <a:avLst>
              <a:gd fmla="val 30000" name="adj"/>
            </a:avLst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39"/>
          <p:cNvSpPr/>
          <p:nvPr/>
        </p:nvSpPr>
        <p:spPr>
          <a:xfrm>
            <a:off x="4667250" y="1143000"/>
            <a:ext cx="4019700" cy="1905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39"/>
          <p:cNvSpPr txBox="1"/>
          <p:nvPr/>
        </p:nvSpPr>
        <p:spPr>
          <a:xfrm>
            <a:off x="4667250" y="952500"/>
            <a:ext cx="4019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🛠️ Código em R</a:t>
            </a:r>
            <a:endParaRPr b="1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6" name="Google Shape;666;p39"/>
          <p:cNvSpPr/>
          <p:nvPr/>
        </p:nvSpPr>
        <p:spPr>
          <a:xfrm>
            <a:off x="4857750" y="1524000"/>
            <a:ext cx="3638700" cy="2476500"/>
          </a:xfrm>
          <a:prstGeom prst="roundRect">
            <a:avLst>
              <a:gd fmla="val 3076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39"/>
          <p:cNvSpPr txBox="1"/>
          <p:nvPr/>
        </p:nvSpPr>
        <p:spPr>
          <a:xfrm>
            <a:off x="4953000" y="1619250"/>
            <a:ext cx="3448200" cy="1354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MA Plot</a:t>
            </a:r>
            <a:endParaRPr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plotMA(res_shrunk,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ylim = c(-5, 5),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main = "MA Plot",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alpha = 0.05)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abline(h = c(-1, 1),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col = "gray50", lty = 2)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grpSp>
        <p:nvGrpSpPr>
          <p:cNvPr id="668" name="Google Shape;668;p39"/>
          <p:cNvGrpSpPr/>
          <p:nvPr/>
        </p:nvGrpSpPr>
        <p:grpSpPr>
          <a:xfrm>
            <a:off x="6486525" y="3714750"/>
            <a:ext cx="381000" cy="407289"/>
            <a:chOff x="6486525" y="3714750"/>
            <a:chExt cx="381000" cy="407289"/>
          </a:xfrm>
        </p:grpSpPr>
        <p:sp>
          <p:nvSpPr>
            <p:cNvPr id="669" name="Google Shape;669;p39"/>
            <p:cNvSpPr/>
            <p:nvPr/>
          </p:nvSpPr>
          <p:spPr>
            <a:xfrm>
              <a:off x="6486525" y="3714750"/>
              <a:ext cx="381000" cy="381000"/>
            </a:xfrm>
            <a:prstGeom prst="ellipse">
              <a:avLst/>
            </a:prstGeom>
            <a:solidFill>
              <a:srgbClr val="FFFBEB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39"/>
            <p:cNvSpPr txBox="1"/>
            <p:nvPr/>
          </p:nvSpPr>
          <p:spPr>
            <a:xfrm>
              <a:off x="6486525" y="3741039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800">
                  <a:solidFill>
                    <a:srgbClr val="DEA022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info</a:t>
              </a:r>
              <a:endParaRPr sz="1800">
                <a:solidFill>
                  <a:srgbClr val="DEA022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</p:grpSp>
      <p:sp>
        <p:nvSpPr>
          <p:cNvPr id="671" name="Google Shape;671;p39"/>
          <p:cNvSpPr txBox="1"/>
          <p:nvPr/>
        </p:nvSpPr>
        <p:spPr>
          <a:xfrm>
            <a:off x="1485900" y="4869180"/>
            <a:ext cx="6172200" cy="17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7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0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7" name="Google Shape;677;p40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40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9" name="Google Shape;679;p40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0" name="Google Shape;680;p40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8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1" sz="800">
              <a:solidFill>
                <a:srgbClr val="00559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1" name="Google Shape;681;p40"/>
          <p:cNvSpPr txBox="1"/>
          <p:nvPr/>
        </p:nvSpPr>
        <p:spPr>
          <a:xfrm>
            <a:off x="411480" y="274320"/>
            <a:ext cx="8229600" cy="4233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3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🌋 Volcano Plot</a:t>
            </a:r>
            <a:endParaRPr b="1" sz="23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2" name="Google Shape;682;p40"/>
          <p:cNvSpPr/>
          <p:nvPr/>
        </p:nvSpPr>
        <p:spPr>
          <a:xfrm>
            <a:off x="333375" y="904875"/>
            <a:ext cx="41433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3" name="Google Shape;683;p40"/>
          <p:cNvSpPr/>
          <p:nvPr/>
        </p:nvSpPr>
        <p:spPr>
          <a:xfrm>
            <a:off x="333375" y="904875"/>
            <a:ext cx="4143300" cy="381000"/>
          </a:xfrm>
          <a:prstGeom prst="roundRect">
            <a:avLst>
              <a:gd fmla="val 30000" name="adj"/>
            </a:avLst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4" name="Google Shape;684;p40"/>
          <p:cNvSpPr/>
          <p:nvPr/>
        </p:nvSpPr>
        <p:spPr>
          <a:xfrm>
            <a:off x="333375" y="1095375"/>
            <a:ext cx="4143300" cy="1905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40"/>
          <p:cNvSpPr txBox="1"/>
          <p:nvPr/>
        </p:nvSpPr>
        <p:spPr>
          <a:xfrm>
            <a:off x="333375" y="904875"/>
            <a:ext cx="41433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Interpretando o Gráfico</a:t>
            </a:r>
            <a:endParaRPr b="1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6" name="Google Shape;686;p40"/>
          <p:cNvSpPr txBox="1"/>
          <p:nvPr/>
        </p:nvSpPr>
        <p:spPr>
          <a:xfrm>
            <a:off x="523875" y="1381125"/>
            <a:ext cx="3762300" cy="2857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3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Como ler?</a:t>
            </a:r>
            <a:endParaRPr b="1" sz="13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rtl="0" algn="l">
              <a:spcBef>
                <a:spcPts val="8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●"/>
            </a:pPr>
            <a:r>
              <a:rPr b="1" lang="pt-BR" sz="115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rPr>
              <a:t>Eixo X:</a:t>
            </a:r>
            <a:r>
              <a:rPr lang="pt-BR" sz="11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log2 Fold Change</a:t>
            </a:r>
            <a:endParaRPr sz="11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●"/>
            </a:pPr>
            <a:r>
              <a:rPr b="1" lang="pt-BR" sz="115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rPr>
              <a:t>Eixo Y:</a:t>
            </a:r>
            <a:r>
              <a:rPr lang="pt-BR" sz="11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−log10(p-valor)</a:t>
            </a:r>
            <a:endParaRPr sz="11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●"/>
            </a:pPr>
            <a:r>
              <a:rPr b="1" lang="pt-BR" sz="115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rPr>
              <a:t>Canto sup. esquerdo:</a:t>
            </a:r>
            <a:r>
              <a:rPr lang="pt-BR" sz="11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Down-regulados</a:t>
            </a:r>
            <a:endParaRPr sz="11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1625" lvl="0" marL="457200" rtl="0" algn="l">
              <a:spcBef>
                <a:spcPts val="600"/>
              </a:spcBef>
              <a:spcAft>
                <a:spcPts val="0"/>
              </a:spcAft>
              <a:buClr>
                <a:srgbClr val="333333"/>
              </a:buClr>
              <a:buSzPts val="1150"/>
              <a:buFont typeface="Calibri"/>
              <a:buChar char="●"/>
            </a:pPr>
            <a:r>
              <a:rPr b="1" lang="pt-BR" sz="115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rPr>
              <a:t>Canto sup. direito:</a:t>
            </a:r>
            <a:r>
              <a:rPr lang="pt-BR" sz="11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Up-regulados</a:t>
            </a:r>
            <a:endParaRPr sz="1150">
              <a:solidFill>
                <a:srgbClr val="33333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50">
                <a:solidFill>
                  <a:srgbClr val="2E7D32"/>
                </a:solidFill>
                <a:highlight>
                  <a:srgbClr val="E8F5E9"/>
                </a:highlight>
                <a:latin typeface="Calibri"/>
                <a:ea typeface="Calibri"/>
                <a:cs typeface="Calibri"/>
                <a:sym typeface="Calibri"/>
              </a:rPr>
              <a:t>Combina significância estatística (↑)</a:t>
            </a:r>
            <a:br>
              <a:rPr b="1" lang="pt-BR" sz="1150">
                <a:solidFill>
                  <a:srgbClr val="2E7D32"/>
                </a:solidFill>
                <a:highlight>
                  <a:srgbClr val="E8F5E9"/>
                </a:highlight>
                <a:latin typeface="Calibri"/>
                <a:ea typeface="Calibri"/>
                <a:cs typeface="Calibri"/>
                <a:sym typeface="Calibri"/>
              </a:rPr>
            </a:br>
            <a:r>
              <a:rPr b="1" lang="pt-BR" sz="1150">
                <a:solidFill>
                  <a:srgbClr val="2E7D32"/>
                </a:solidFill>
                <a:highlight>
                  <a:srgbClr val="E8F5E9"/>
                </a:highlight>
                <a:latin typeface="Calibri"/>
                <a:ea typeface="Calibri"/>
                <a:cs typeface="Calibri"/>
                <a:sym typeface="Calibri"/>
              </a:rPr>
              <a:t>com magnitude biológica (← →)</a:t>
            </a:r>
            <a:endParaRPr b="1" sz="1150">
              <a:solidFill>
                <a:srgbClr val="2E7D32"/>
              </a:solidFill>
              <a:highlight>
                <a:srgbClr val="E8F5E9"/>
              </a:highlight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7" name="Google Shape;687;p40"/>
          <p:cNvSpPr/>
          <p:nvPr/>
        </p:nvSpPr>
        <p:spPr>
          <a:xfrm>
            <a:off x="4619625" y="904875"/>
            <a:ext cx="42387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40"/>
          <p:cNvSpPr/>
          <p:nvPr/>
        </p:nvSpPr>
        <p:spPr>
          <a:xfrm>
            <a:off x="4619625" y="904875"/>
            <a:ext cx="4238700" cy="381000"/>
          </a:xfrm>
          <a:prstGeom prst="roundRect">
            <a:avLst>
              <a:gd fmla="val 30000" name="adj"/>
            </a:avLst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40"/>
          <p:cNvSpPr/>
          <p:nvPr/>
        </p:nvSpPr>
        <p:spPr>
          <a:xfrm>
            <a:off x="4619625" y="1095375"/>
            <a:ext cx="4238700" cy="1905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40"/>
          <p:cNvSpPr txBox="1"/>
          <p:nvPr/>
        </p:nvSpPr>
        <p:spPr>
          <a:xfrm>
            <a:off x="4619625" y="904875"/>
            <a:ext cx="4238700" cy="381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🛠️ Código em R</a:t>
            </a:r>
            <a:endParaRPr b="1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1" name="Google Shape;691;p40"/>
          <p:cNvSpPr/>
          <p:nvPr/>
        </p:nvSpPr>
        <p:spPr>
          <a:xfrm>
            <a:off x="4810125" y="1476375"/>
            <a:ext cx="3857700" cy="2667000"/>
          </a:xfrm>
          <a:prstGeom prst="roundRect">
            <a:avLst>
              <a:gd fmla="val 2857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40"/>
          <p:cNvSpPr txBox="1"/>
          <p:nvPr/>
        </p:nvSpPr>
        <p:spPr>
          <a:xfrm>
            <a:off x="4905375" y="1571625"/>
            <a:ext cx="3667200" cy="24765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Volcano Plot</a:t>
            </a:r>
            <a:endParaRPr sz="1050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EnhancedVolcano(res,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lab = rownames(res),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x = "log2FoldChange",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y = "pvalue",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pCutoff = 0.05,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FCcutoff = 1,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title = "Tratamento vs Controle",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05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drawConnectors = TRUE)</a:t>
            </a:r>
            <a:endParaRPr sz="1050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693" name="Google Shape;693;p40"/>
          <p:cNvSpPr txBox="1"/>
          <p:nvPr/>
        </p:nvSpPr>
        <p:spPr>
          <a:xfrm>
            <a:off x="1485900" y="4869180"/>
            <a:ext cx="6172200" cy="177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7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7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41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9" name="Google Shape;699;p41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0" name="Google Shape;700;p41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/>
          </a:p>
        </p:txBody>
      </p:sp>
      <p:sp>
        <p:nvSpPr>
          <p:cNvPr id="701" name="Google Shape;701;p41"/>
          <p:cNvSpPr txBox="1"/>
          <p:nvPr/>
        </p:nvSpPr>
        <p:spPr>
          <a:xfrm>
            <a:off x="411480" y="274320"/>
            <a:ext cx="8229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🔥  Heatmap dos Top Genes DE</a:t>
            </a:r>
            <a:endParaRPr sz="1100"/>
          </a:p>
        </p:txBody>
      </p:sp>
      <p:sp>
        <p:nvSpPr>
          <p:cNvPr id="702" name="Google Shape;702;p41"/>
          <p:cNvSpPr/>
          <p:nvPr/>
        </p:nvSpPr>
        <p:spPr>
          <a:xfrm>
            <a:off x="4619625" y="952500"/>
            <a:ext cx="4238700" cy="3619500"/>
          </a:xfrm>
          <a:prstGeom prst="roundRect">
            <a:avLst>
              <a:gd fmla="val 3157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41"/>
          <p:cNvSpPr/>
          <p:nvPr/>
        </p:nvSpPr>
        <p:spPr>
          <a:xfrm>
            <a:off x="4619625" y="952500"/>
            <a:ext cx="4238700" cy="381000"/>
          </a:xfrm>
          <a:prstGeom prst="roundRect">
            <a:avLst>
              <a:gd fmla="val 30000" name="adj"/>
            </a:avLst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41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  <p:sp>
        <p:nvSpPr>
          <p:cNvPr id="705" name="Google Shape;705;p41"/>
          <p:cNvSpPr/>
          <p:nvPr/>
        </p:nvSpPr>
        <p:spPr>
          <a:xfrm>
            <a:off x="4619625" y="1095375"/>
            <a:ext cx="4238700" cy="2382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41"/>
          <p:cNvSpPr txBox="1"/>
          <p:nvPr/>
        </p:nvSpPr>
        <p:spPr>
          <a:xfrm>
            <a:off x="4619625" y="952500"/>
            <a:ext cx="42387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🛠️ Código em R</a:t>
            </a:r>
            <a:endParaRPr b="1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7" name="Google Shape;707;p41"/>
          <p:cNvSpPr/>
          <p:nvPr/>
        </p:nvSpPr>
        <p:spPr>
          <a:xfrm>
            <a:off x="4810125" y="1476375"/>
            <a:ext cx="3857700" cy="2905200"/>
          </a:xfrm>
          <a:prstGeom prst="roundRect">
            <a:avLst>
              <a:gd fmla="val 2622" name="adj"/>
            </a:avLst>
          </a:prstGeom>
          <a:solidFill>
            <a:srgbClr val="F8FAFC"/>
          </a:solidFill>
          <a:ln cap="flat" cmpd="sng" w="9525">
            <a:solidFill>
              <a:srgbClr val="CBD5E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8" name="Google Shape;708;p41"/>
          <p:cNvSpPr txBox="1"/>
          <p:nvPr/>
        </p:nvSpPr>
        <p:spPr>
          <a:xfrm>
            <a:off x="4905375" y="1571625"/>
            <a:ext cx="3667200" cy="271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Selecionar top 50 genes por padj</a:t>
            </a:r>
            <a:endParaRPr sz="925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res_ordered &lt;- res[order(res$padj), ]</a:t>
            </a:r>
            <a:endParaRPr sz="925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top_genes &lt;- head(rownames(res_ordered), 50)</a:t>
            </a:r>
            <a:endParaRPr sz="925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mat &lt;- assay(vsd)[top_genes, ]</a:t>
            </a:r>
            <a:endParaRPr sz="925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Z-score por gene (centralizar)</a:t>
            </a:r>
            <a:endParaRPr sz="925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mat_scaled &lt;- t(scale(t(mat)))</a:t>
            </a:r>
            <a:endParaRPr sz="925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6A9955"/>
                </a:solidFill>
                <a:latin typeface="Consolas"/>
                <a:ea typeface="Consolas"/>
                <a:cs typeface="Consolas"/>
                <a:sym typeface="Consolas"/>
              </a:rPr>
              <a:t># Heatmap</a:t>
            </a:r>
            <a:endParaRPr sz="925">
              <a:solidFill>
                <a:srgbClr val="6A9955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pheatmap(mat_scaled,</a:t>
            </a:r>
            <a:endParaRPr sz="925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annotation_col = sample_info["condition"],</a:t>
            </a:r>
            <a:endParaRPr sz="925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clustering_method = "complete",</a:t>
            </a:r>
            <a:endParaRPr sz="925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color = colorRampPalette(</a:t>
            </a:r>
            <a:endParaRPr sz="925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c("#2166AC", "white", "#B2182B"))(100),</a:t>
            </a:r>
            <a:endParaRPr sz="925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fontsize_row = 7,</a:t>
            </a:r>
            <a:endParaRPr sz="925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lang="pt-BR" sz="925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rPr>
              <a:t>main = "Top 50 Genes DE (Z-score)")</a:t>
            </a:r>
            <a:endParaRPr sz="925">
              <a:solidFill>
                <a:srgbClr val="1F497D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709" name="Google Shape;709;p41"/>
          <p:cNvSpPr/>
          <p:nvPr/>
        </p:nvSpPr>
        <p:spPr>
          <a:xfrm>
            <a:off x="333375" y="904875"/>
            <a:ext cx="4143300" cy="3667200"/>
          </a:xfrm>
          <a:prstGeom prst="roundRect">
            <a:avLst>
              <a:gd fmla="val 3116" name="adj"/>
            </a:avLst>
          </a:prstGeom>
          <a:solidFill>
            <a:srgbClr val="FFFFFF"/>
          </a:solidFill>
          <a:ln cap="flat" cmpd="sng" w="9525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1"/>
          <p:cNvSpPr/>
          <p:nvPr/>
        </p:nvSpPr>
        <p:spPr>
          <a:xfrm>
            <a:off x="333375" y="904875"/>
            <a:ext cx="4143300" cy="381000"/>
          </a:xfrm>
          <a:prstGeom prst="roundRect">
            <a:avLst>
              <a:gd fmla="val 30000" name="adj"/>
            </a:avLst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41"/>
          <p:cNvSpPr/>
          <p:nvPr/>
        </p:nvSpPr>
        <p:spPr>
          <a:xfrm>
            <a:off x="333375" y="1047750"/>
            <a:ext cx="4143300" cy="2382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41"/>
          <p:cNvSpPr txBox="1"/>
          <p:nvPr/>
        </p:nvSpPr>
        <p:spPr>
          <a:xfrm>
            <a:off x="333375" y="904875"/>
            <a:ext cx="41433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Interpretando o Heatmap</a:t>
            </a:r>
            <a:endParaRPr b="1" sz="14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3" name="Google Shape;713;p41"/>
          <p:cNvSpPr txBox="1"/>
          <p:nvPr/>
        </p:nvSpPr>
        <p:spPr>
          <a:xfrm>
            <a:off x="523875" y="1381125"/>
            <a:ext cx="37623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Como ler?</a:t>
            </a:r>
            <a:endParaRPr b="1" sz="11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004B87"/>
              </a:buClr>
              <a:buSzPts val="1100"/>
              <a:buFont typeface="Calibri"/>
              <a:buChar char="●"/>
            </a:pPr>
            <a:r>
              <a:rPr b="1" lang="pt-BR" sz="110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rPr>
              <a:t>Linhas:</a:t>
            </a: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Representam os genes individuais selecionados.</a:t>
            </a:r>
            <a:endParaRPr sz="11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004B87"/>
              </a:buClr>
              <a:buSzPts val="1100"/>
              <a:buFont typeface="Calibri"/>
              <a:buChar char="●"/>
            </a:pPr>
            <a:r>
              <a:rPr b="1" lang="pt-BR" sz="110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rPr>
              <a:t>Colunas:</a:t>
            </a: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Representam as amostras (agrupadas por condição).</a:t>
            </a:r>
            <a:endParaRPr sz="11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004B87"/>
              </a:buClr>
              <a:buSzPts val="1100"/>
              <a:buFont typeface="Calibri"/>
              <a:buChar char="●"/>
            </a:pPr>
            <a:r>
              <a:rPr b="1" lang="pt-BR" sz="1100">
                <a:solidFill>
                  <a:srgbClr val="DEA022"/>
                </a:solidFill>
                <a:latin typeface="Calibri"/>
                <a:ea typeface="Calibri"/>
                <a:cs typeface="Calibri"/>
                <a:sym typeface="Calibri"/>
              </a:rPr>
              <a:t>Cores (Z-score):</a:t>
            </a: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 Escala de expressão relativa (Azul = ↓, Vermelho = ↑).</a:t>
            </a:r>
            <a:endParaRPr sz="11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pt-BR" sz="11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O que observar:</a:t>
            </a:r>
            <a:endParaRPr b="1" sz="11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800"/>
              </a:spcBef>
              <a:spcAft>
                <a:spcPts val="0"/>
              </a:spcAft>
              <a:buClr>
                <a:srgbClr val="004B87"/>
              </a:buClr>
              <a:buSzPts val="1100"/>
              <a:buFont typeface="Calibri"/>
              <a:buChar char="●"/>
            </a:pP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Padrões claros de agrupamento entre réplicas.</a:t>
            </a:r>
            <a:endParaRPr sz="11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004B87"/>
              </a:buClr>
              <a:buSzPts val="1100"/>
              <a:buFont typeface="Calibri"/>
              <a:buChar char="●"/>
            </a:pP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Blocos de genes up ou down-regulados entre condições.</a:t>
            </a:r>
            <a:endParaRPr sz="11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98450" lvl="0" marL="457200" rtl="0" algn="l">
              <a:spcBef>
                <a:spcPts val="600"/>
              </a:spcBef>
              <a:spcAft>
                <a:spcPts val="0"/>
              </a:spcAft>
              <a:buClr>
                <a:srgbClr val="004B87"/>
              </a:buClr>
              <a:buSzPts val="1100"/>
              <a:buFont typeface="Calibri"/>
              <a:buChar char="●"/>
            </a:pPr>
            <a:r>
              <a:rPr lang="pt-BR"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Outliers ou amostras com perfil inconsistente.</a:t>
            </a:r>
            <a:endParaRPr sz="11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p42"/>
          <p:cNvSpPr/>
          <p:nvPr/>
        </p:nvSpPr>
        <p:spPr>
          <a:xfrm>
            <a:off x="0" y="0"/>
            <a:ext cx="2400300" cy="82296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9" name="Google Shape;719;p42"/>
          <p:cNvSpPr/>
          <p:nvPr/>
        </p:nvSpPr>
        <p:spPr>
          <a:xfrm>
            <a:off x="2400300" y="0"/>
            <a:ext cx="6743471" cy="82296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0" name="Google Shape;720;p42"/>
          <p:cNvSpPr txBox="1"/>
          <p:nvPr/>
        </p:nvSpPr>
        <p:spPr>
          <a:xfrm>
            <a:off x="685800" y="102870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45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🧩</a:t>
            </a:r>
            <a:endParaRPr sz="1100"/>
          </a:p>
        </p:txBody>
      </p:sp>
      <p:sp>
        <p:nvSpPr>
          <p:cNvPr id="721" name="Google Shape;721;p42"/>
          <p:cNvSpPr txBox="1"/>
          <p:nvPr/>
        </p:nvSpPr>
        <p:spPr>
          <a:xfrm>
            <a:off x="685800" y="1920240"/>
            <a:ext cx="7543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000" u="none" cap="none" strike="noStrike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Enriquecimento Funcional</a:t>
            </a:r>
            <a:endParaRPr sz="1100"/>
          </a:p>
        </p:txBody>
      </p:sp>
      <p:sp>
        <p:nvSpPr>
          <p:cNvPr id="722" name="Google Shape;722;p42"/>
          <p:cNvSpPr txBox="1"/>
          <p:nvPr/>
        </p:nvSpPr>
        <p:spPr>
          <a:xfrm>
            <a:off x="685800" y="260604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4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ORA, GSEA e KEGG</a:t>
            </a:r>
            <a:endParaRPr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26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7" name="Google Shape;727;p43"/>
          <p:cNvGrpSpPr/>
          <p:nvPr/>
        </p:nvGrpSpPr>
        <p:grpSpPr>
          <a:xfrm>
            <a:off x="0" y="0"/>
            <a:ext cx="9144000" cy="754320"/>
            <a:chOff x="0" y="0"/>
            <a:chExt cx="9144000" cy="754320"/>
          </a:xfrm>
        </p:grpSpPr>
        <p:sp>
          <p:nvSpPr>
            <p:cNvPr id="728" name="Google Shape;728;p43"/>
            <p:cNvSpPr/>
            <p:nvPr/>
          </p:nvSpPr>
          <p:spPr>
            <a:xfrm>
              <a:off x="0" y="0"/>
              <a:ext cx="2400300" cy="82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43"/>
            <p:cNvSpPr/>
            <p:nvPr/>
          </p:nvSpPr>
          <p:spPr>
            <a:xfrm>
              <a:off x="2400300" y="0"/>
              <a:ext cx="6743700" cy="82200"/>
            </a:xfrm>
            <a:prstGeom prst="rect">
              <a:avLst/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43"/>
            <p:cNvSpPr txBox="1"/>
            <p:nvPr/>
          </p:nvSpPr>
          <p:spPr>
            <a:xfrm>
              <a:off x="274320" y="171450"/>
              <a:ext cx="342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b="1" sz="8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31" name="Google Shape;731;p43"/>
            <p:cNvSpPr txBox="1"/>
            <p:nvPr/>
          </p:nvSpPr>
          <p:spPr>
            <a:xfrm>
              <a:off x="411480" y="274320"/>
              <a:ext cx="8229600" cy="4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100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🤔 O que é enriquecimento funcional?</a:t>
              </a:r>
              <a:endParaRPr b="1" sz="21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32" name="Google Shape;732;p43"/>
          <p:cNvSpPr/>
          <p:nvPr/>
        </p:nvSpPr>
        <p:spPr>
          <a:xfrm>
            <a:off x="381000" y="952500"/>
            <a:ext cx="8382000" cy="3429000"/>
          </a:xfrm>
          <a:prstGeom prst="roundRect">
            <a:avLst>
              <a:gd fmla="val 5555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3" name="Google Shape;733;p43"/>
          <p:cNvSpPr txBox="1"/>
          <p:nvPr/>
        </p:nvSpPr>
        <p:spPr>
          <a:xfrm>
            <a:off x="762000" y="1143000"/>
            <a:ext cx="7620000" cy="95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14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Temos uma lista de genes DE. E agora?</a:t>
            </a:r>
            <a:endParaRPr b="0" sz="14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600"/>
              </a:spcBef>
              <a:spcAft>
                <a:spcPts val="0"/>
              </a:spcAft>
              <a:buNone/>
            </a:pPr>
            <a:r>
              <a:rPr b="1" lang="pt-BR" sz="20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Quais funções biológicas ou vias metabólicas estão mais afetadas?</a:t>
            </a:r>
            <a:endParaRPr b="1" sz="2000">
              <a:solidFill>
                <a:srgbClr val="004B87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34" name="Google Shape;734;p43"/>
          <p:cNvGrpSpPr/>
          <p:nvPr/>
        </p:nvGrpSpPr>
        <p:grpSpPr>
          <a:xfrm>
            <a:off x="762000" y="2095500"/>
            <a:ext cx="7620000" cy="1905150"/>
            <a:chOff x="762000" y="2095500"/>
            <a:chExt cx="7620000" cy="1905150"/>
          </a:xfrm>
        </p:grpSpPr>
        <p:sp>
          <p:nvSpPr>
            <p:cNvPr id="735" name="Google Shape;735;p43"/>
            <p:cNvSpPr txBox="1"/>
            <p:nvPr/>
          </p:nvSpPr>
          <p:spPr>
            <a:xfrm>
              <a:off x="762000" y="2095500"/>
              <a:ext cx="762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3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Bancos de dados de anotação funcional:</a:t>
              </a:r>
              <a:endParaRPr b="1" sz="13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36" name="Google Shape;736;p43"/>
            <p:cNvGrpSpPr/>
            <p:nvPr/>
          </p:nvGrpSpPr>
          <p:grpSpPr>
            <a:xfrm>
              <a:off x="762000" y="2476500"/>
              <a:ext cx="7429500" cy="476400"/>
              <a:chOff x="0" y="0"/>
              <a:chExt cx="7429500" cy="476400"/>
            </a:xfrm>
          </p:grpSpPr>
          <p:sp>
            <p:nvSpPr>
              <p:cNvPr id="737" name="Google Shape;737;p43"/>
              <p:cNvSpPr/>
              <p:nvPr/>
            </p:nvSpPr>
            <p:spPr>
              <a:xfrm>
                <a:off x="0" y="0"/>
                <a:ext cx="74295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E8F5E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8" name="Google Shape;738;p43"/>
              <p:cNvSpPr txBox="1"/>
              <p:nvPr/>
            </p:nvSpPr>
            <p:spPr>
              <a:xfrm>
                <a:off x="142875" y="0"/>
                <a:ext cx="7143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• Gene Ontology (GO) </a:t>
                </a:r>
                <a:r>
                  <a:rPr b="0" lang="pt-BR" sz="1100">
                    <a:solidFill>
                      <a:srgbClr val="6666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— Biological Process, Molecular Function, Cellular Component</a:t>
                </a:r>
                <a:endParaRPr b="1" sz="11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39" name="Google Shape;739;p43"/>
            <p:cNvGrpSpPr/>
            <p:nvPr/>
          </p:nvGrpSpPr>
          <p:grpSpPr>
            <a:xfrm>
              <a:off x="762000" y="3000375"/>
              <a:ext cx="7429500" cy="476400"/>
              <a:chOff x="0" y="0"/>
              <a:chExt cx="7429500" cy="476400"/>
            </a:xfrm>
          </p:grpSpPr>
          <p:sp>
            <p:nvSpPr>
              <p:cNvPr id="740" name="Google Shape;740;p43"/>
              <p:cNvSpPr/>
              <p:nvPr/>
            </p:nvSpPr>
            <p:spPr>
              <a:xfrm>
                <a:off x="0" y="0"/>
                <a:ext cx="74295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E8F5E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1" name="Google Shape;741;p43"/>
              <p:cNvSpPr txBox="1"/>
              <p:nvPr/>
            </p:nvSpPr>
            <p:spPr>
              <a:xfrm>
                <a:off x="142875" y="0"/>
                <a:ext cx="7143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• KEGG </a:t>
                </a:r>
                <a:r>
                  <a:rPr b="0" lang="pt-BR" sz="1100">
                    <a:solidFill>
                      <a:srgbClr val="6666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— Vias metabólicas e de sinalização</a:t>
                </a:r>
                <a:endParaRPr b="1" sz="11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42" name="Google Shape;742;p43"/>
            <p:cNvGrpSpPr/>
            <p:nvPr/>
          </p:nvGrpSpPr>
          <p:grpSpPr>
            <a:xfrm>
              <a:off x="762000" y="3524250"/>
              <a:ext cx="7429500" cy="476400"/>
              <a:chOff x="0" y="0"/>
              <a:chExt cx="7429500" cy="476400"/>
            </a:xfrm>
          </p:grpSpPr>
          <p:sp>
            <p:nvSpPr>
              <p:cNvPr id="743" name="Google Shape;743;p43"/>
              <p:cNvSpPr/>
              <p:nvPr/>
            </p:nvSpPr>
            <p:spPr>
              <a:xfrm>
                <a:off x="0" y="0"/>
                <a:ext cx="7429500" cy="476400"/>
              </a:xfrm>
              <a:prstGeom prst="roundRect">
                <a:avLst>
                  <a:gd fmla="val 16000" name="adj"/>
                </a:avLst>
              </a:prstGeom>
              <a:solidFill>
                <a:srgbClr val="E8F5E9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4" name="Google Shape;744;p43"/>
              <p:cNvSpPr txBox="1"/>
              <p:nvPr/>
            </p:nvSpPr>
            <p:spPr>
              <a:xfrm>
                <a:off x="142875" y="0"/>
                <a:ext cx="7143900" cy="476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pt-BR" sz="1100">
                    <a:solidFill>
                      <a:srgbClr val="2E7D32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• Reactome, WikiPathways, MSigDB </a:t>
                </a:r>
                <a:r>
                  <a:rPr b="0" lang="pt-BR" sz="1100">
                    <a:solidFill>
                      <a:srgbClr val="666666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— Outras bases complementares</a:t>
                </a:r>
                <a:endParaRPr b="1" sz="1100">
                  <a:solidFill>
                    <a:srgbClr val="2E7D32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745" name="Google Shape;745;p43"/>
          <p:cNvSpPr txBox="1"/>
          <p:nvPr/>
        </p:nvSpPr>
        <p:spPr>
          <a:xfrm>
            <a:off x="342900" y="4869180"/>
            <a:ext cx="8458200" cy="205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pt-BR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b="0"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0" name="Google Shape;750;p44"/>
          <p:cNvGrpSpPr/>
          <p:nvPr/>
        </p:nvGrpSpPr>
        <p:grpSpPr>
          <a:xfrm>
            <a:off x="0" y="0"/>
            <a:ext cx="9144000" cy="754320"/>
            <a:chOff x="0" y="0"/>
            <a:chExt cx="9144000" cy="754320"/>
          </a:xfrm>
        </p:grpSpPr>
        <p:sp>
          <p:nvSpPr>
            <p:cNvPr id="751" name="Google Shape;751;p44"/>
            <p:cNvSpPr/>
            <p:nvPr/>
          </p:nvSpPr>
          <p:spPr>
            <a:xfrm>
              <a:off x="0" y="0"/>
              <a:ext cx="2400300" cy="822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44"/>
            <p:cNvSpPr/>
            <p:nvPr/>
          </p:nvSpPr>
          <p:spPr>
            <a:xfrm>
              <a:off x="2400300" y="0"/>
              <a:ext cx="6743700" cy="82200"/>
            </a:xfrm>
            <a:prstGeom prst="rect">
              <a:avLst/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44"/>
            <p:cNvSpPr txBox="1"/>
            <p:nvPr/>
          </p:nvSpPr>
          <p:spPr>
            <a:xfrm>
              <a:off x="274320" y="171450"/>
              <a:ext cx="342900" cy="2742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4275" lIns="68575" spcFirstLastPara="1" rIns="68575" wrap="square" tIns="342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8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06</a:t>
              </a:r>
              <a:endParaRPr b="1" sz="8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54" name="Google Shape;754;p44"/>
            <p:cNvSpPr txBox="1"/>
            <p:nvPr/>
          </p:nvSpPr>
          <p:spPr>
            <a:xfrm>
              <a:off x="411480" y="274320"/>
              <a:ext cx="8229600" cy="48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800">
                  <a:solidFill>
                    <a:srgbClr val="222222"/>
                  </a:solidFill>
                  <a:latin typeface="Calibri"/>
                  <a:ea typeface="Calibri"/>
                  <a:cs typeface="Calibri"/>
                  <a:sym typeface="Calibri"/>
                </a:rPr>
                <a:t>⚖️ ORA vs. GSEA</a:t>
              </a:r>
              <a:endParaRPr b="1" sz="2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55" name="Google Shape;755;p44"/>
          <p:cNvGrpSpPr/>
          <p:nvPr/>
        </p:nvGrpSpPr>
        <p:grpSpPr>
          <a:xfrm>
            <a:off x="571500" y="1047750"/>
            <a:ext cx="3810000" cy="3333900"/>
            <a:chOff x="571500" y="1047750"/>
            <a:chExt cx="3810000" cy="3333900"/>
          </a:xfrm>
        </p:grpSpPr>
        <p:sp>
          <p:nvSpPr>
            <p:cNvPr id="756" name="Google Shape;756;p44"/>
            <p:cNvSpPr/>
            <p:nvPr/>
          </p:nvSpPr>
          <p:spPr>
            <a:xfrm>
              <a:off x="571500" y="1047750"/>
              <a:ext cx="3810000" cy="33339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9050">
              <a:solidFill>
                <a:srgbClr val="4F81B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44"/>
            <p:cNvSpPr/>
            <p:nvPr/>
          </p:nvSpPr>
          <p:spPr>
            <a:xfrm>
              <a:off x="571500" y="1047750"/>
              <a:ext cx="3810000" cy="571500"/>
            </a:xfrm>
            <a:prstGeom prst="roundRect">
              <a:avLst>
                <a:gd fmla="val 25000" name="adj"/>
              </a:avLst>
            </a:prstGeom>
            <a:solidFill>
              <a:srgbClr val="4F81B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44"/>
            <p:cNvSpPr/>
            <p:nvPr/>
          </p:nvSpPr>
          <p:spPr>
            <a:xfrm>
              <a:off x="571500" y="1333500"/>
              <a:ext cx="3810000" cy="285900"/>
            </a:xfrm>
            <a:prstGeom prst="rect">
              <a:avLst/>
            </a:prstGeom>
            <a:solidFill>
              <a:srgbClr val="4F81BD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44"/>
            <p:cNvSpPr txBox="1"/>
            <p:nvPr/>
          </p:nvSpPr>
          <p:spPr>
            <a:xfrm>
              <a:off x="571500" y="104775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ORA</a:t>
              </a:r>
              <a:endParaRPr b="1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Over-Representation Analysis</a:t>
              </a:r>
              <a:endPara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0" name="Google Shape;760;p44"/>
            <p:cNvSpPr txBox="1"/>
            <p:nvPr/>
          </p:nvSpPr>
          <p:spPr>
            <a:xfrm>
              <a:off x="762000" y="1762125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005596"/>
                </a:buClr>
                <a:buSzPts val="1200"/>
                <a:buFont typeface="Calibri"/>
                <a:buChar char="●"/>
              </a:pPr>
              <a:r>
                <a:rPr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Usa </a:t>
              </a:r>
              <a:r>
                <a:rPr b="1"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APENAS</a:t>
              </a:r>
              <a:r>
                <a:rPr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genes DE (lista fixa)</a:t>
              </a:r>
              <a:endParaRPr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5596"/>
                </a:buClr>
                <a:buSzPts val="1200"/>
                <a:buFont typeface="Calibri"/>
                <a:buChar char="●"/>
              </a:pPr>
              <a:r>
                <a:rPr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Teste hipergeométrico (Fisher)</a:t>
              </a:r>
              <a:endParaRPr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5596"/>
                </a:buClr>
                <a:buSzPts val="1200"/>
                <a:buFont typeface="Calibri"/>
                <a:buChar char="●"/>
              </a:pPr>
              <a:r>
                <a:rPr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Depende do corte (padj, LFC)</a:t>
              </a:r>
              <a:endParaRPr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5596"/>
                </a:buClr>
                <a:buSzPts val="1200"/>
                <a:buFont typeface="Calibri"/>
                <a:buChar char="●"/>
              </a:pPr>
              <a:r>
                <a:rPr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Simples e intuitivo</a:t>
              </a:r>
              <a:endParaRPr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005596"/>
                </a:buClr>
                <a:buSzPts val="1200"/>
                <a:buFont typeface="Calibri"/>
                <a:buChar char="●"/>
              </a:pPr>
              <a:r>
                <a:rPr i="1" lang="pt-BR" sz="1200">
                  <a:solidFill>
                    <a:srgbClr val="005596"/>
                  </a:solidFill>
                  <a:latin typeface="Calibri"/>
                  <a:ea typeface="Calibri"/>
                  <a:cs typeface="Calibri"/>
                  <a:sym typeface="Calibri"/>
                </a:rPr>
                <a:t>"Meus genes DE estão enriquecidos nesta via?"</a:t>
              </a:r>
              <a:endParaRPr i="1" sz="1200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61" name="Google Shape;761;p44"/>
          <p:cNvGrpSpPr/>
          <p:nvPr/>
        </p:nvGrpSpPr>
        <p:grpSpPr>
          <a:xfrm>
            <a:off x="4762500" y="1047750"/>
            <a:ext cx="3810000" cy="3333900"/>
            <a:chOff x="4762500" y="1047750"/>
            <a:chExt cx="3810000" cy="3333900"/>
          </a:xfrm>
        </p:grpSpPr>
        <p:sp>
          <p:nvSpPr>
            <p:cNvPr id="762" name="Google Shape;762;p44"/>
            <p:cNvSpPr/>
            <p:nvPr/>
          </p:nvSpPr>
          <p:spPr>
            <a:xfrm>
              <a:off x="4762500" y="1047750"/>
              <a:ext cx="3810000" cy="3333900"/>
            </a:xfrm>
            <a:prstGeom prst="roundRect">
              <a:avLst>
                <a:gd fmla="val 4285" name="adj"/>
              </a:avLst>
            </a:prstGeom>
            <a:solidFill>
              <a:srgbClr val="FFFFFF"/>
            </a:solidFill>
            <a:ln cap="flat" cmpd="sng" w="19050">
              <a:solidFill>
                <a:srgbClr val="8064A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44"/>
            <p:cNvSpPr/>
            <p:nvPr/>
          </p:nvSpPr>
          <p:spPr>
            <a:xfrm>
              <a:off x="4762500" y="1047750"/>
              <a:ext cx="3810000" cy="571500"/>
            </a:xfrm>
            <a:prstGeom prst="roundRect">
              <a:avLst>
                <a:gd fmla="val 25000" name="adj"/>
              </a:avLst>
            </a:prstGeom>
            <a:solidFill>
              <a:srgbClr val="8064A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44"/>
            <p:cNvSpPr/>
            <p:nvPr/>
          </p:nvSpPr>
          <p:spPr>
            <a:xfrm>
              <a:off x="4762500" y="1333500"/>
              <a:ext cx="3810000" cy="285900"/>
            </a:xfrm>
            <a:prstGeom prst="rect">
              <a:avLst/>
            </a:prstGeom>
            <a:solidFill>
              <a:srgbClr val="8064A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44"/>
            <p:cNvSpPr txBox="1"/>
            <p:nvPr/>
          </p:nvSpPr>
          <p:spPr>
            <a:xfrm>
              <a:off x="4762500" y="1047750"/>
              <a:ext cx="3810000" cy="57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2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GSEA</a:t>
              </a:r>
              <a:endParaRPr b="1" sz="2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Gene Set Enrichment Analysis</a:t>
              </a:r>
              <a:endParaRPr b="0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6" name="Google Shape;766;p44"/>
            <p:cNvSpPr txBox="1"/>
            <p:nvPr/>
          </p:nvSpPr>
          <p:spPr>
            <a:xfrm>
              <a:off x="4953000" y="1762125"/>
              <a:ext cx="3429000" cy="247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-304800" lvl="0" marL="457200" rtl="0" algn="l">
                <a:spcBef>
                  <a:spcPts val="0"/>
                </a:spcBef>
                <a:spcAft>
                  <a:spcPts val="0"/>
                </a:spcAft>
                <a:buClr>
                  <a:srgbClr val="6A1B9A"/>
                </a:buClr>
                <a:buSzPts val="1200"/>
                <a:buFont typeface="Calibri"/>
                <a:buChar char="●"/>
              </a:pPr>
              <a:r>
                <a:rPr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Usa </a:t>
              </a:r>
              <a:r>
                <a:rPr b="1"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TODOS</a:t>
              </a:r>
              <a:r>
                <a:rPr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 os genes ranqueados</a:t>
              </a:r>
              <a:endParaRPr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6A1B9A"/>
                </a:buClr>
                <a:buSzPts val="1200"/>
                <a:buFont typeface="Calibri"/>
                <a:buChar char="●"/>
              </a:pPr>
              <a:r>
                <a:rPr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Sem corte arbitrário</a:t>
              </a:r>
              <a:endParaRPr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6A1B9A"/>
                </a:buClr>
                <a:buSzPts val="1200"/>
                <a:buFont typeface="Calibri"/>
                <a:buChar char="●"/>
              </a:pPr>
              <a:r>
                <a:rPr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Detecta mudanças coordenadas sutis</a:t>
              </a:r>
              <a:endParaRPr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6A1B9A"/>
                </a:buClr>
                <a:buSzPts val="1200"/>
                <a:buFont typeface="Calibri"/>
                <a:buChar char="●"/>
              </a:pPr>
              <a:r>
                <a:rPr lang="pt-BR" sz="12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Mais poderoso para mudanças distribuídas</a:t>
              </a:r>
              <a:endParaRPr sz="12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304800" lvl="0" marL="457200" rtl="0" algn="l">
                <a:spcBef>
                  <a:spcPts val="900"/>
                </a:spcBef>
                <a:spcAft>
                  <a:spcPts val="0"/>
                </a:spcAft>
                <a:buClr>
                  <a:srgbClr val="6A1B9A"/>
                </a:buClr>
                <a:buSzPts val="1200"/>
                <a:buFont typeface="Calibri"/>
                <a:buChar char="●"/>
              </a:pPr>
              <a:r>
                <a:rPr i="1" lang="pt-BR" sz="1200">
                  <a:solidFill>
                    <a:srgbClr val="6A1B9A"/>
                  </a:solidFill>
                  <a:latin typeface="Calibri"/>
                  <a:ea typeface="Calibri"/>
                  <a:cs typeface="Calibri"/>
                  <a:sym typeface="Calibri"/>
                </a:rPr>
                <a:t>"Genes desta via tendem a estar no topo/fundo do ranking?"</a:t>
              </a:r>
              <a:endParaRPr i="1" sz="1200">
                <a:solidFill>
                  <a:srgbClr val="6A1B9A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67" name="Google Shape;767;p44"/>
          <p:cNvSpPr txBox="1"/>
          <p:nvPr/>
        </p:nvSpPr>
        <p:spPr>
          <a:xfrm>
            <a:off x="0" y="4857750"/>
            <a:ext cx="91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4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6F4EE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3" name="Google Shape;773;p45"/>
          <p:cNvSpPr/>
          <p:nvPr/>
        </p:nvSpPr>
        <p:spPr>
          <a:xfrm>
            <a:off x="0" y="0"/>
            <a:ext cx="2400300" cy="819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4" name="Google Shape;774;p45"/>
          <p:cNvSpPr/>
          <p:nvPr/>
        </p:nvSpPr>
        <p:spPr>
          <a:xfrm>
            <a:off x="2400300" y="0"/>
            <a:ext cx="6743700" cy="81900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5" name="Google Shape;775;p45"/>
          <p:cNvSpPr txBox="1"/>
          <p:nvPr/>
        </p:nvSpPr>
        <p:spPr>
          <a:xfrm>
            <a:off x="381000" y="2857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🎯 ORA — Gene Ontology + KEGG</a:t>
            </a:r>
            <a:endParaRPr/>
          </a:p>
        </p:txBody>
      </p:sp>
      <p:grpSp>
        <p:nvGrpSpPr>
          <p:cNvPr id="776" name="Google Shape;776;p45"/>
          <p:cNvGrpSpPr/>
          <p:nvPr/>
        </p:nvGrpSpPr>
        <p:grpSpPr>
          <a:xfrm>
            <a:off x="381000" y="952500"/>
            <a:ext cx="4095900" cy="3619500"/>
            <a:chOff x="0" y="0"/>
            <a:chExt cx="4095900" cy="3619500"/>
          </a:xfrm>
        </p:grpSpPr>
        <p:sp>
          <p:nvSpPr>
            <p:cNvPr id="777" name="Google Shape;777;p45"/>
            <p:cNvSpPr/>
            <p:nvPr/>
          </p:nvSpPr>
          <p:spPr>
            <a:xfrm>
              <a:off x="0" y="0"/>
              <a:ext cx="40959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45"/>
            <p:cNvSpPr/>
            <p:nvPr/>
          </p:nvSpPr>
          <p:spPr>
            <a:xfrm>
              <a:off x="142875" y="523875"/>
              <a:ext cx="3810000" cy="2952900"/>
            </a:xfrm>
            <a:prstGeom prst="roundRect">
              <a:avLst>
                <a:gd fmla="val 1935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45"/>
            <p:cNvSpPr txBox="1"/>
            <p:nvPr/>
          </p:nvSpPr>
          <p:spPr>
            <a:xfrm>
              <a:off x="142875" y="142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1. Gene Ontology (GO)</a:t>
              </a:r>
              <a:endParaRPr/>
            </a:p>
          </p:txBody>
        </p:sp>
        <p:sp>
          <p:nvSpPr>
            <p:cNvPr id="780" name="Google Shape;780;p45"/>
            <p:cNvSpPr txBox="1"/>
            <p:nvPr/>
          </p:nvSpPr>
          <p:spPr>
            <a:xfrm>
              <a:off x="238125" y="619125"/>
              <a:ext cx="3619500" cy="2762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Converter IDs para Entrez</a:t>
              </a:r>
              <a:endParaRPr sz="10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gene_entrez &lt;- </a:t>
              </a:r>
              <a:r>
                <a:rPr b="1" lang="pt-BR" sz="10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bitr</a:t>
              </a: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(sig_gene_ids,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fromType = "SYMBOL", toType = "ENTREZID",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OrgDb = org.Hs.eg.db)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ORA — GO Biological Process</a:t>
              </a:r>
              <a:endParaRPr sz="10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ora_go &lt;- </a:t>
              </a:r>
              <a:r>
                <a:rPr b="1" lang="pt-BR" sz="10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enrichGO</a:t>
              </a: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gene = gene_entrez$ENTREZID,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OrgDb = org.Hs.eg.db, ont = "BP",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pAdjustMethod = "BH", pvalueCutoff = 0.05,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readable = TRUE)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0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dotplot</a:t>
              </a: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(ora_go, showCategory = 20)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81" name="Google Shape;781;p45"/>
          <p:cNvGrpSpPr/>
          <p:nvPr/>
        </p:nvGrpSpPr>
        <p:grpSpPr>
          <a:xfrm>
            <a:off x="4667250" y="952500"/>
            <a:ext cx="4095900" cy="2286000"/>
            <a:chOff x="0" y="0"/>
            <a:chExt cx="4095900" cy="2286000"/>
          </a:xfrm>
        </p:grpSpPr>
        <p:sp>
          <p:nvSpPr>
            <p:cNvPr id="782" name="Google Shape;782;p45"/>
            <p:cNvSpPr/>
            <p:nvPr/>
          </p:nvSpPr>
          <p:spPr>
            <a:xfrm>
              <a:off x="0" y="0"/>
              <a:ext cx="4095900" cy="2286000"/>
            </a:xfrm>
            <a:prstGeom prst="roundRect">
              <a:avLst>
                <a:gd fmla="val 5000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45"/>
            <p:cNvSpPr/>
            <p:nvPr/>
          </p:nvSpPr>
          <p:spPr>
            <a:xfrm>
              <a:off x="142875" y="523875"/>
              <a:ext cx="3810000" cy="1619100"/>
            </a:xfrm>
            <a:prstGeom prst="roundRect">
              <a:avLst>
                <a:gd fmla="val 3529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45"/>
            <p:cNvSpPr txBox="1"/>
            <p:nvPr/>
          </p:nvSpPr>
          <p:spPr>
            <a:xfrm>
              <a:off x="142875" y="142875"/>
              <a:ext cx="38100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2. KEGG Pathways</a:t>
              </a:r>
              <a:endParaRPr/>
            </a:p>
          </p:txBody>
        </p:sp>
        <p:sp>
          <p:nvSpPr>
            <p:cNvPr id="785" name="Google Shape;785;p45"/>
            <p:cNvSpPr txBox="1"/>
            <p:nvPr/>
          </p:nvSpPr>
          <p:spPr>
            <a:xfrm>
              <a:off x="238125" y="619125"/>
              <a:ext cx="3619500" cy="1428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ORA — KEGG Pathways</a:t>
              </a:r>
              <a:endParaRPr sz="10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ora_kegg &lt;- </a:t>
              </a:r>
              <a:r>
                <a:rPr b="1" lang="pt-BR" sz="10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enrichKEGG</a:t>
              </a: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gene = gene_entrez$ENTREZID,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organism = "hsa", pAdjustMethod = "BH",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pvalueCutoff = 0.05)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10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dotplot</a:t>
              </a: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(ora_kegg, showCategory = 20,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title = "KEGG Pathways")</a:t>
              </a:r>
              <a:endParaRPr sz="10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786" name="Google Shape;786;p45"/>
          <p:cNvGrpSpPr/>
          <p:nvPr/>
        </p:nvGrpSpPr>
        <p:grpSpPr>
          <a:xfrm>
            <a:off x="4667250" y="3429000"/>
            <a:ext cx="4095900" cy="1143000"/>
            <a:chOff x="0" y="0"/>
            <a:chExt cx="4095900" cy="1143000"/>
          </a:xfrm>
        </p:grpSpPr>
        <p:sp>
          <p:nvSpPr>
            <p:cNvPr id="787" name="Google Shape;787;p45"/>
            <p:cNvSpPr/>
            <p:nvPr/>
          </p:nvSpPr>
          <p:spPr>
            <a:xfrm>
              <a:off x="0" y="0"/>
              <a:ext cx="4095900" cy="1143000"/>
            </a:xfrm>
            <a:prstGeom prst="roundRect">
              <a:avLst>
                <a:gd fmla="val 10000" name="adj"/>
              </a:avLst>
            </a:prstGeom>
            <a:solidFill>
              <a:srgbClr val="E0F2FE"/>
            </a:solidFill>
            <a:ln cap="flat" cmpd="sng" w="9525">
              <a:solidFill>
                <a:srgbClr val="7DD3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45"/>
            <p:cNvSpPr/>
            <p:nvPr/>
          </p:nvSpPr>
          <p:spPr>
            <a:xfrm>
              <a:off x="0" y="0"/>
              <a:ext cx="47700" cy="11430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45"/>
            <p:cNvSpPr txBox="1"/>
            <p:nvPr/>
          </p:nvSpPr>
          <p:spPr>
            <a:xfrm>
              <a:off x="190500" y="142875"/>
              <a:ext cx="37149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💡 Códigos de organismo KEGG:</a:t>
              </a:r>
              <a:endParaRPr b="1"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75"/>
                </a:spcBef>
                <a:spcAft>
                  <a:spcPts val="0"/>
                </a:spcAft>
                <a:buNone/>
              </a:pP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• </a:t>
              </a:r>
              <a:r>
                <a:rPr b="1"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hsa</a:t>
              </a: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: humano | </a:t>
              </a:r>
              <a:r>
                <a:rPr b="1"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mmu</a:t>
              </a: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: camundongo</a:t>
              </a:r>
              <a:endParaRPr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• </a:t>
              </a:r>
              <a:r>
                <a:rPr b="1"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dme</a:t>
              </a: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: Drosophila | </a:t>
              </a:r>
              <a:r>
                <a:rPr b="1"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ath</a:t>
              </a:r>
              <a:r>
                <a:rPr lang="pt-BR" sz="105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: Arabidopsis</a:t>
              </a:r>
              <a:endParaRPr sz="105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790" name="Google Shape;790;p45"/>
          <p:cNvSpPr txBox="1"/>
          <p:nvPr/>
        </p:nvSpPr>
        <p:spPr>
          <a:xfrm>
            <a:off x="0" y="4857750"/>
            <a:ext cx="91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794" name="Shape 7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5" name="Google Shape;795;p46"/>
          <p:cNvSpPr/>
          <p:nvPr/>
        </p:nvSpPr>
        <p:spPr>
          <a:xfrm>
            <a:off x="0" y="0"/>
            <a:ext cx="2400300" cy="819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6" name="Google Shape;796;p46"/>
          <p:cNvSpPr/>
          <p:nvPr/>
        </p:nvSpPr>
        <p:spPr>
          <a:xfrm>
            <a:off x="2400300" y="0"/>
            <a:ext cx="6743700" cy="81900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7" name="Google Shape;797;p46"/>
          <p:cNvSpPr txBox="1"/>
          <p:nvPr/>
        </p:nvSpPr>
        <p:spPr>
          <a:xfrm>
            <a:off x="381000" y="285750"/>
            <a:ext cx="8382000" cy="47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📈 GSEA — Preparação e Execução</a:t>
            </a:r>
            <a:endParaRPr b="1" sz="28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98" name="Google Shape;798;p46"/>
          <p:cNvGrpSpPr/>
          <p:nvPr/>
        </p:nvGrpSpPr>
        <p:grpSpPr>
          <a:xfrm>
            <a:off x="381000" y="952500"/>
            <a:ext cx="4286400" cy="3619500"/>
            <a:chOff x="381000" y="952500"/>
            <a:chExt cx="4286400" cy="3619500"/>
          </a:xfrm>
        </p:grpSpPr>
        <p:sp>
          <p:nvSpPr>
            <p:cNvPr id="799" name="Google Shape;799;p46"/>
            <p:cNvSpPr/>
            <p:nvPr/>
          </p:nvSpPr>
          <p:spPr>
            <a:xfrm>
              <a:off x="381000" y="952500"/>
              <a:ext cx="4286400" cy="3619500"/>
            </a:xfrm>
            <a:prstGeom prst="roundRect">
              <a:avLst>
                <a:gd fmla="val 3157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46"/>
            <p:cNvSpPr/>
            <p:nvPr/>
          </p:nvSpPr>
          <p:spPr>
            <a:xfrm>
              <a:off x="523875" y="1476375"/>
              <a:ext cx="4000500" cy="2857500"/>
            </a:xfrm>
            <a:prstGeom prst="roundRect">
              <a:avLst>
                <a:gd fmla="val 2000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46"/>
            <p:cNvSpPr txBox="1"/>
            <p:nvPr/>
          </p:nvSpPr>
          <p:spPr>
            <a:xfrm>
              <a:off x="523875" y="1095375"/>
              <a:ext cx="4000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1. Preparação da Lista Ranqueada</a:t>
              </a:r>
              <a:endParaRPr b="1" sz="12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2" name="Google Shape;802;p46"/>
            <p:cNvSpPr txBox="1"/>
            <p:nvPr/>
          </p:nvSpPr>
          <p:spPr>
            <a:xfrm>
              <a:off x="619125" y="1571625"/>
              <a:ext cx="3810000" cy="2667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Preparar lista pela estatística de Wald</a:t>
              </a:r>
              <a:endParaRPr sz="9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res_entrez &lt;- </a:t>
              </a:r>
              <a:r>
                <a:rPr b="1" lang="pt-BR" sz="9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merge</a:t>
              </a: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(as.data.frame(res),</a:t>
              </a:r>
              <a:endParaRPr sz="9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gene_entrez, by.x="row.names",</a:t>
              </a:r>
              <a:endParaRPr sz="9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by.y="SYMBOL")</a:t>
              </a:r>
              <a:endParaRPr sz="9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gene_list &lt;- </a:t>
              </a:r>
              <a:r>
                <a:rPr b="1" lang="pt-BR" sz="9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setNames</a:t>
              </a: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(res_entrez$stat,</a:t>
              </a:r>
              <a:endParaRPr sz="9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res_entrez$ENTREZID)</a:t>
              </a:r>
              <a:endParaRPr sz="9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gene_list &lt;- </a:t>
              </a:r>
              <a:r>
                <a:rPr b="1" lang="pt-BR" sz="9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sort</a:t>
              </a: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(gene_list, decreasing=T)</a:t>
              </a:r>
              <a:endParaRPr sz="9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Execução GSEA (GO e KEGG)</a:t>
              </a:r>
              <a:endParaRPr sz="9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gsea_go &lt;- </a:t>
              </a:r>
              <a:r>
                <a:rPr b="1" lang="pt-BR" sz="9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gseGO</a:t>
              </a: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(geneList = gene_list,</a:t>
              </a:r>
              <a:endParaRPr sz="9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OrgDb = org.Hs.eg.db, ont = "BP")</a:t>
              </a:r>
              <a:endParaRPr sz="9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grpSp>
        <p:nvGrpSpPr>
          <p:cNvPr id="803" name="Google Shape;803;p46"/>
          <p:cNvGrpSpPr/>
          <p:nvPr/>
        </p:nvGrpSpPr>
        <p:grpSpPr>
          <a:xfrm>
            <a:off x="4857750" y="952500"/>
            <a:ext cx="3905400" cy="857400"/>
            <a:chOff x="4857750" y="952500"/>
            <a:chExt cx="3905400" cy="857400"/>
          </a:xfrm>
        </p:grpSpPr>
        <p:sp>
          <p:nvSpPr>
            <p:cNvPr id="804" name="Google Shape;804;p46"/>
            <p:cNvSpPr/>
            <p:nvPr/>
          </p:nvSpPr>
          <p:spPr>
            <a:xfrm>
              <a:off x="4857750" y="952500"/>
              <a:ext cx="3905400" cy="857400"/>
            </a:xfrm>
            <a:prstGeom prst="roundRect">
              <a:avLst>
                <a:gd fmla="val 13333" name="adj"/>
              </a:avLst>
            </a:prstGeom>
            <a:solidFill>
              <a:srgbClr val="E0F2FE"/>
            </a:solidFill>
            <a:ln cap="flat" cmpd="sng" w="9525">
              <a:solidFill>
                <a:srgbClr val="7DD3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46"/>
            <p:cNvSpPr/>
            <p:nvPr/>
          </p:nvSpPr>
          <p:spPr>
            <a:xfrm>
              <a:off x="4857750" y="952500"/>
              <a:ext cx="47700" cy="857400"/>
            </a:xfrm>
            <a:prstGeom prst="rect">
              <a:avLst/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46"/>
            <p:cNvSpPr txBox="1"/>
            <p:nvPr/>
          </p:nvSpPr>
          <p:spPr>
            <a:xfrm>
              <a:off x="5048250" y="1047750"/>
              <a:ext cx="35718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0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💡 Por que Wald (stat)?</a:t>
              </a:r>
              <a:endParaRPr b="1" sz="10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pt-BR" sz="9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É ideal para ranquear pois combina magnitude (LFC) e confiança (SE) em um único valor robusto.</a:t>
              </a:r>
              <a:endParaRPr b="0" sz="9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07" name="Google Shape;807;p46"/>
          <p:cNvGrpSpPr/>
          <p:nvPr/>
        </p:nvGrpSpPr>
        <p:grpSpPr>
          <a:xfrm>
            <a:off x="4857750" y="2000250"/>
            <a:ext cx="3905400" cy="2571900"/>
            <a:chOff x="4857750" y="2000250"/>
            <a:chExt cx="3905400" cy="2571900"/>
          </a:xfrm>
        </p:grpSpPr>
        <p:sp>
          <p:nvSpPr>
            <p:cNvPr id="808" name="Google Shape;808;p46"/>
            <p:cNvSpPr/>
            <p:nvPr/>
          </p:nvSpPr>
          <p:spPr>
            <a:xfrm>
              <a:off x="4857750" y="2000250"/>
              <a:ext cx="3905400" cy="2571900"/>
            </a:xfrm>
            <a:prstGeom prst="roundRect">
              <a:avLst>
                <a:gd fmla="val 4444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46"/>
            <p:cNvSpPr/>
            <p:nvPr/>
          </p:nvSpPr>
          <p:spPr>
            <a:xfrm>
              <a:off x="5000625" y="2619375"/>
              <a:ext cx="3619500" cy="1809600"/>
            </a:xfrm>
            <a:prstGeom prst="roundRect">
              <a:avLst>
                <a:gd fmla="val 3157" name="adj"/>
              </a:avLst>
            </a:prstGeom>
            <a:solidFill>
              <a:srgbClr val="F8FAFC"/>
            </a:solidFill>
            <a:ln cap="flat" cmpd="sng" w="9525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46"/>
            <p:cNvSpPr txBox="1"/>
            <p:nvPr/>
          </p:nvSpPr>
          <p:spPr>
            <a:xfrm>
              <a:off x="5000625" y="2143125"/>
              <a:ext cx="36195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2. Visualizações</a:t>
              </a:r>
              <a:endParaRPr b="1" sz="12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11" name="Google Shape;811;p46"/>
            <p:cNvSpPr txBox="1"/>
            <p:nvPr/>
          </p:nvSpPr>
          <p:spPr>
            <a:xfrm>
              <a:off x="5095875" y="2714625"/>
              <a:ext cx="3429000" cy="161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64748B"/>
                  </a:solidFill>
                  <a:latin typeface="Consolas"/>
                  <a:ea typeface="Consolas"/>
                  <a:cs typeface="Consolas"/>
                  <a:sym typeface="Consolas"/>
                </a:rPr>
                <a:t># Dotplot e GSEA Plot</a:t>
              </a:r>
              <a:endParaRPr sz="900">
                <a:solidFill>
                  <a:srgbClr val="64748B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9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dotplot</a:t>
              </a: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(gsea_go, showCategory = 20,</a:t>
              </a:r>
              <a:endParaRPr sz="9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19050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split = ".sign") + </a:t>
              </a:r>
              <a:r>
                <a:rPr b="1" lang="pt-BR" sz="9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facet_grid</a:t>
              </a: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(.~.sign)</a:t>
              </a:r>
              <a:endParaRPr sz="9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  <a:p>
              <a:pPr indent="0" lvl="0" marL="0" rtl="0" algn="l">
                <a:spcBef>
                  <a:spcPts val="1125"/>
                </a:spcBef>
                <a:spcAft>
                  <a:spcPts val="0"/>
                </a:spcAft>
                <a:buNone/>
              </a:pPr>
              <a:r>
                <a:rPr b="1" lang="pt-BR" sz="900">
                  <a:solidFill>
                    <a:srgbClr val="059669"/>
                  </a:solidFill>
                  <a:latin typeface="Consolas"/>
                  <a:ea typeface="Consolas"/>
                  <a:cs typeface="Consolas"/>
                  <a:sym typeface="Consolas"/>
                </a:rPr>
                <a:t>gseaplot2</a:t>
              </a:r>
              <a:r>
                <a:rPr lang="pt-BR" sz="900">
                  <a:solidFill>
                    <a:srgbClr val="1F497D"/>
                  </a:solidFill>
                  <a:latin typeface="Consolas"/>
                  <a:ea typeface="Consolas"/>
                  <a:cs typeface="Consolas"/>
                  <a:sym typeface="Consolas"/>
                </a:rPr>
                <a:t>(gsea_go, geneSetID = 1:3)</a:t>
              </a:r>
              <a:endParaRPr sz="900">
                <a:solidFill>
                  <a:srgbClr val="1F497D"/>
                </a:solidFill>
                <a:latin typeface="Consolas"/>
                <a:ea typeface="Consolas"/>
                <a:cs typeface="Consolas"/>
                <a:sym typeface="Consolas"/>
              </a:endParaRPr>
            </a:p>
          </p:txBody>
        </p:sp>
      </p:grpSp>
      <p:sp>
        <p:nvSpPr>
          <p:cNvPr id="812" name="Google Shape;812;p46"/>
          <p:cNvSpPr txBox="1"/>
          <p:nvPr/>
        </p:nvSpPr>
        <p:spPr>
          <a:xfrm>
            <a:off x="0" y="4857750"/>
            <a:ext cx="9144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816" name="Shape 8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Google Shape;817;p47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8" name="Google Shape;818;p47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9" name="Google Shape;819;p47"/>
          <p:cNvSpPr txBox="1"/>
          <p:nvPr/>
        </p:nvSpPr>
        <p:spPr>
          <a:xfrm>
            <a:off x="274320" y="171450"/>
            <a:ext cx="342900" cy="192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800" u="none" cap="none" strike="noStrike">
                <a:solidFill>
                  <a:srgbClr val="005596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sz="1100"/>
          </a:p>
        </p:txBody>
      </p:sp>
      <p:sp>
        <p:nvSpPr>
          <p:cNvPr id="820" name="Google Shape;820;p47"/>
          <p:cNvSpPr txBox="1"/>
          <p:nvPr/>
        </p:nvSpPr>
        <p:spPr>
          <a:xfrm>
            <a:off x="411480" y="274320"/>
            <a:ext cx="8229600" cy="4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     Resumo: ORA vs GSEA</a:t>
            </a:r>
            <a:endParaRPr sz="1100"/>
          </a:p>
        </p:txBody>
      </p:sp>
      <p:grpSp>
        <p:nvGrpSpPr>
          <p:cNvPr id="821" name="Google Shape;821;p47"/>
          <p:cNvGrpSpPr/>
          <p:nvPr/>
        </p:nvGrpSpPr>
        <p:grpSpPr>
          <a:xfrm>
            <a:off x="571500" y="952500"/>
            <a:ext cx="8001150" cy="2714700"/>
            <a:chOff x="571500" y="952500"/>
            <a:chExt cx="8001150" cy="2714700"/>
          </a:xfrm>
        </p:grpSpPr>
        <p:sp>
          <p:nvSpPr>
            <p:cNvPr id="822" name="Google Shape;822;p47"/>
            <p:cNvSpPr/>
            <p:nvPr/>
          </p:nvSpPr>
          <p:spPr>
            <a:xfrm>
              <a:off x="571500" y="952500"/>
              <a:ext cx="8001000" cy="381000"/>
            </a:xfrm>
            <a:prstGeom prst="roundRect">
              <a:avLst>
                <a:gd fmla="val 2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47"/>
            <p:cNvSpPr/>
            <p:nvPr/>
          </p:nvSpPr>
          <p:spPr>
            <a:xfrm>
              <a:off x="571500" y="1381125"/>
              <a:ext cx="8001000" cy="2286000"/>
            </a:xfrm>
            <a:prstGeom prst="roundRect">
              <a:avLst>
                <a:gd fmla="val 3333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824" name="Google Shape;824;p47"/>
            <p:cNvCxnSpPr/>
            <p:nvPr/>
          </p:nvCxnSpPr>
          <p:spPr>
            <a:xfrm>
              <a:off x="2667000" y="952500"/>
              <a:ext cx="0" cy="27147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5" name="Google Shape;825;p47"/>
            <p:cNvCxnSpPr/>
            <p:nvPr/>
          </p:nvCxnSpPr>
          <p:spPr>
            <a:xfrm>
              <a:off x="5619750" y="952500"/>
              <a:ext cx="0" cy="271470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26" name="Google Shape;826;p47"/>
            <p:cNvCxnSpPr/>
            <p:nvPr/>
          </p:nvCxnSpPr>
          <p:spPr>
            <a:xfrm>
              <a:off x="571500" y="1381125"/>
              <a:ext cx="8001000" cy="0"/>
            </a:xfrm>
            <a:prstGeom prst="straightConnector1">
              <a:avLst/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827" name="Google Shape;827;p47"/>
            <p:cNvSpPr txBox="1"/>
            <p:nvPr/>
          </p:nvSpPr>
          <p:spPr>
            <a:xfrm>
              <a:off x="571500" y="95250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Aspecto</a:t>
              </a:r>
              <a:endParaRPr b="1" sz="12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8" name="Google Shape;828;p47"/>
            <p:cNvSpPr txBox="1"/>
            <p:nvPr/>
          </p:nvSpPr>
          <p:spPr>
            <a:xfrm>
              <a:off x="2667000" y="95250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ORA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29" name="Google Shape;829;p47"/>
            <p:cNvSpPr txBox="1"/>
            <p:nvPr/>
          </p:nvSpPr>
          <p:spPr>
            <a:xfrm>
              <a:off x="5619750" y="952500"/>
              <a:ext cx="29529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400">
                  <a:solidFill>
                    <a:srgbClr val="FFFFFF"/>
                  </a:solidFill>
                  <a:latin typeface="Calibri"/>
                  <a:ea typeface="Calibri"/>
                  <a:cs typeface="Calibri"/>
                  <a:sym typeface="Calibri"/>
                </a:rPr>
                <a:t>GSEA</a:t>
              </a:r>
              <a:endParaRPr b="1" sz="1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30" name="Google Shape;830;p47"/>
            <p:cNvSpPr txBox="1"/>
            <p:nvPr/>
          </p:nvSpPr>
          <p:spPr>
            <a:xfrm>
              <a:off x="571500" y="1381125"/>
              <a:ext cx="8001000" cy="228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2875" spcFirstLastPara="1" rIns="142875" wrap="square" tIns="0">
              <a:noAutofit/>
            </a:bodyPr>
            <a:lstStyle/>
            <a:p>
              <a:pPr indent="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Input					</a:t>
              </a: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L</a:t>
              </a: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ista de genes DE				</a:t>
              </a:r>
              <a:r>
                <a:rPr lang="pt-BR" sz="1100">
                  <a:solidFill>
                    <a:srgbClr val="6A1B9A"/>
                  </a:solidFill>
                  <a:latin typeface="Calibri"/>
                  <a:ea typeface="Calibri"/>
                  <a:cs typeface="Calibri"/>
                  <a:sym typeface="Calibri"/>
                </a:rPr>
                <a:t>Todos os genes ranqueados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4B87"/>
                  </a:solidFill>
                  <a:highlight>
                    <a:srgbClr val="F8FAFC"/>
                  </a:highlight>
                  <a:latin typeface="Calibri"/>
                  <a:ea typeface="Calibri"/>
                  <a:cs typeface="Calibri"/>
                  <a:sym typeface="Calibri"/>
                </a:rPr>
                <a:t>Corte					</a:t>
              </a:r>
              <a:r>
                <a:rPr lang="pt-BR" sz="1100">
                  <a:solidFill>
                    <a:srgbClr val="333333"/>
                  </a:solidFill>
                  <a:highlight>
                    <a:srgbClr val="F8FAFC"/>
                  </a:highlight>
                  <a:latin typeface="Calibri"/>
                  <a:ea typeface="Calibri"/>
                  <a:cs typeface="Calibri"/>
                  <a:sym typeface="Calibri"/>
                </a:rPr>
                <a:t>Sim (padj, LFC)					</a:t>
              </a:r>
              <a:r>
                <a:rPr lang="pt-BR" sz="1100">
                  <a:solidFill>
                    <a:srgbClr val="6A1B9A"/>
                  </a:solidFill>
                  <a:highlight>
                    <a:srgbClr val="F8FAFC"/>
                  </a:highlight>
                  <a:latin typeface="Calibri"/>
                  <a:ea typeface="Calibri"/>
                  <a:cs typeface="Calibri"/>
                  <a:sym typeface="Calibri"/>
                </a:rPr>
                <a:t>Não</a:t>
              </a:r>
              <a:endParaRPr sz="1100">
                <a:solidFill>
                  <a:srgbClr val="333333"/>
                </a:solidFill>
                <a:highlight>
                  <a:srgbClr val="F8FAFC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Teste					</a:t>
              </a: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Hipergeométrico				</a:t>
              </a:r>
              <a:r>
                <a:rPr lang="pt-BR" sz="1100">
                  <a:solidFill>
                    <a:srgbClr val="6A1B9A"/>
                  </a:solidFill>
                  <a:latin typeface="Calibri"/>
                  <a:ea typeface="Calibri"/>
                  <a:cs typeface="Calibri"/>
                  <a:sym typeface="Calibri"/>
                </a:rPr>
                <a:t>Running enrichment score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4B87"/>
                  </a:solidFill>
                  <a:highlight>
                    <a:srgbClr val="F8FAFC"/>
                  </a:highlight>
                  <a:latin typeface="Calibri"/>
                  <a:ea typeface="Calibri"/>
                  <a:cs typeface="Calibri"/>
                  <a:sym typeface="Calibri"/>
                </a:rPr>
                <a:t>Força					</a:t>
              </a:r>
              <a:r>
                <a:rPr lang="pt-BR" sz="1100">
                  <a:solidFill>
                    <a:srgbClr val="333333"/>
                  </a:solidFill>
                  <a:highlight>
                    <a:srgbClr val="F8FAFC"/>
                  </a:highlight>
                  <a:latin typeface="Calibri"/>
                  <a:ea typeface="Calibri"/>
                  <a:cs typeface="Calibri"/>
                  <a:sym typeface="Calibri"/>
                </a:rPr>
                <a:t>Simples, intuitivo				</a:t>
              </a:r>
              <a:r>
                <a:rPr lang="pt-BR" sz="1100">
                  <a:solidFill>
                    <a:srgbClr val="6A1B9A"/>
                  </a:solidFill>
                  <a:highlight>
                    <a:srgbClr val="F8FAFC"/>
                  </a:highlight>
                  <a:latin typeface="Calibri"/>
                  <a:ea typeface="Calibri"/>
                  <a:cs typeface="Calibri"/>
                  <a:sym typeface="Calibri"/>
                </a:rPr>
                <a:t>Detecta mudanças sutis</a:t>
              </a:r>
              <a:endParaRPr sz="1100">
                <a:solidFill>
                  <a:srgbClr val="333333"/>
                </a:solidFill>
                <a:highlight>
                  <a:srgbClr val="F8FAFC"/>
                </a:highlight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Fraqueza				</a:t>
              </a: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Depende do corte				</a:t>
              </a:r>
              <a:r>
                <a:rPr lang="pt-BR" sz="1100">
                  <a:solidFill>
                    <a:srgbClr val="6A1B9A"/>
                  </a:solidFill>
                  <a:latin typeface="Calibri"/>
                  <a:ea typeface="Calibri"/>
                  <a:cs typeface="Calibri"/>
                  <a:sym typeface="Calibri"/>
                </a:rPr>
                <a:t>Mais complexo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457200" rtl="0" algn="l">
                <a:lnSpc>
                  <a:spcPct val="15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4B87"/>
                  </a:solidFill>
                  <a:highlight>
                    <a:srgbClr val="F8FAFC"/>
                  </a:highlight>
                  <a:latin typeface="Calibri"/>
                  <a:ea typeface="Calibri"/>
                  <a:cs typeface="Calibri"/>
                  <a:sym typeface="Calibri"/>
                </a:rPr>
                <a:t>Usar quando				</a:t>
              </a:r>
              <a:r>
                <a:rPr lang="pt-BR" sz="1100">
                  <a:solidFill>
                    <a:srgbClr val="333333"/>
                  </a:solidFill>
                  <a:highlight>
                    <a:srgbClr val="F8FAFC"/>
                  </a:highlight>
                  <a:latin typeface="Calibri"/>
                  <a:ea typeface="Calibri"/>
                  <a:cs typeface="Calibri"/>
                  <a:sym typeface="Calibri"/>
                </a:rPr>
                <a:t>Mudanças fortes				</a:t>
              </a:r>
              <a:r>
                <a:rPr lang="pt-BR" sz="1100">
                  <a:solidFill>
                    <a:srgbClr val="6A1B9A"/>
                  </a:solidFill>
                  <a:highlight>
                    <a:srgbClr val="F8FAFC"/>
                  </a:highlight>
                  <a:latin typeface="Calibri"/>
                  <a:ea typeface="Calibri"/>
                  <a:cs typeface="Calibri"/>
                  <a:sym typeface="Calibri"/>
                </a:rPr>
                <a:t>Mudanças distribuídas</a:t>
              </a:r>
              <a:endParaRPr sz="1100">
                <a:solidFill>
                  <a:srgbClr val="333333"/>
                </a:solidFill>
                <a:highlight>
                  <a:srgbClr val="F8FAFC"/>
                </a:highlight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31" name="Google Shape;831;p47"/>
          <p:cNvGrpSpPr/>
          <p:nvPr/>
        </p:nvGrpSpPr>
        <p:grpSpPr>
          <a:xfrm>
            <a:off x="571500" y="3905250"/>
            <a:ext cx="8001000" cy="666900"/>
            <a:chOff x="571500" y="3905250"/>
            <a:chExt cx="8001000" cy="666900"/>
          </a:xfrm>
        </p:grpSpPr>
        <p:sp>
          <p:nvSpPr>
            <p:cNvPr id="832" name="Google Shape;832;p47"/>
            <p:cNvSpPr/>
            <p:nvPr/>
          </p:nvSpPr>
          <p:spPr>
            <a:xfrm>
              <a:off x="571500" y="3905250"/>
              <a:ext cx="8001000" cy="666900"/>
            </a:xfrm>
            <a:prstGeom prst="roundRect">
              <a:avLst>
                <a:gd fmla="val 17142" name="adj"/>
              </a:avLst>
            </a:prstGeom>
            <a:solidFill>
              <a:srgbClr val="F0F9FF"/>
            </a:solidFill>
            <a:ln cap="flat" cmpd="sng" w="9525">
              <a:solidFill>
                <a:srgbClr val="7DD3F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47"/>
            <p:cNvSpPr/>
            <p:nvPr/>
          </p:nvSpPr>
          <p:spPr>
            <a:xfrm>
              <a:off x="571500" y="3905250"/>
              <a:ext cx="76200" cy="666900"/>
            </a:xfrm>
            <a:prstGeom prst="roundRect">
              <a:avLst>
                <a:gd fmla="val 50000" name="adj"/>
              </a:avLst>
            </a:prstGeom>
            <a:solidFill>
              <a:srgbClr val="0369A1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47"/>
            <p:cNvSpPr txBox="1"/>
            <p:nvPr/>
          </p:nvSpPr>
          <p:spPr>
            <a:xfrm>
              <a:off x="809625" y="3905250"/>
              <a:ext cx="7524900" cy="66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200">
                  <a:solidFill>
                    <a:srgbClr val="0369A1"/>
                  </a:solidFill>
                  <a:latin typeface="Calibri"/>
                  <a:ea typeface="Calibri"/>
                  <a:cs typeface="Calibri"/>
                  <a:sym typeface="Calibri"/>
                </a:rPr>
                <a:t>💡 Conclusão Estratégica:</a:t>
              </a:r>
              <a:endParaRPr b="1" sz="1200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200">
                  <a:solidFill>
                    <a:srgbClr val="0369A1"/>
                  </a:solidFill>
                  <a:latin typeface="Calibri"/>
                  <a:ea typeface="Calibri"/>
                  <a:cs typeface="Calibri"/>
                  <a:sym typeface="Calibri"/>
                </a:rPr>
                <a:t>Use ambos! ORA e GSEA são complementares. Compare os resultados e ganhe mais confiança nas conclusões.</a:t>
              </a:r>
              <a:endParaRPr sz="1200">
                <a:solidFill>
                  <a:srgbClr val="0369A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35" name="Google Shape;835;p47"/>
          <p:cNvSpPr txBox="1"/>
          <p:nvPr/>
        </p:nvSpPr>
        <p:spPr>
          <a:xfrm>
            <a:off x="342900" y="4869180"/>
            <a:ext cx="6172200" cy="1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9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48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48"/>
          <p:cNvSpPr/>
          <p:nvPr/>
        </p:nvSpPr>
        <p:spPr>
          <a:xfrm>
            <a:off x="0" y="0"/>
            <a:ext cx="2400300" cy="82200"/>
          </a:xfrm>
          <a:prstGeom prst="rect">
            <a:avLst/>
          </a:prstGeom>
          <a:solidFill>
            <a:srgbClr val="004B87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2" name="Google Shape;842;p48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48"/>
          <p:cNvSpPr/>
          <p:nvPr/>
        </p:nvSpPr>
        <p:spPr>
          <a:xfrm>
            <a:off x="2400300" y="0"/>
            <a:ext cx="6743400" cy="82200"/>
          </a:xfrm>
          <a:prstGeom prst="rect">
            <a:avLst/>
          </a:prstGeom>
          <a:solidFill>
            <a:srgbClr val="DEA022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4" name="Google Shape;844;p48"/>
          <p:cNvSpPr txBox="1"/>
          <p:nvPr/>
        </p:nvSpPr>
        <p:spPr>
          <a:xfrm>
            <a:off x="381000" y="333375"/>
            <a:ext cx="8382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2800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📌 O que aprendemos hoje</a:t>
            </a:r>
            <a:endParaRPr b="1" sz="2800">
              <a:solidFill>
                <a:srgbClr val="22222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45" name="Google Shape;845;p48"/>
          <p:cNvGrpSpPr/>
          <p:nvPr/>
        </p:nvGrpSpPr>
        <p:grpSpPr>
          <a:xfrm>
            <a:off x="571500" y="1143000"/>
            <a:ext cx="8001150" cy="3143250"/>
            <a:chOff x="571500" y="1143000"/>
            <a:chExt cx="8001150" cy="3143250"/>
          </a:xfrm>
        </p:grpSpPr>
        <p:sp>
          <p:nvSpPr>
            <p:cNvPr id="846" name="Google Shape;846;p48"/>
            <p:cNvSpPr/>
            <p:nvPr/>
          </p:nvSpPr>
          <p:spPr>
            <a:xfrm>
              <a:off x="571500" y="114300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48"/>
            <p:cNvSpPr/>
            <p:nvPr/>
          </p:nvSpPr>
          <p:spPr>
            <a:xfrm>
              <a:off x="571500" y="1143000"/>
              <a:ext cx="76200" cy="952500"/>
            </a:xfrm>
            <a:prstGeom prst="roundRect">
              <a:avLst>
                <a:gd fmla="val 5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48"/>
            <p:cNvSpPr txBox="1"/>
            <p:nvPr/>
          </p:nvSpPr>
          <p:spPr>
            <a:xfrm>
              <a:off x="762000" y="1190625"/>
              <a:ext cx="3571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DESeq2 &amp; Modelagem</a:t>
              </a:r>
              <a:endParaRPr b="1" sz="11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Usa o modelo Binomial Negativa com shrinkage para detectar genes DE com robustez.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9" name="Google Shape;849;p48"/>
            <p:cNvSpPr/>
            <p:nvPr/>
          </p:nvSpPr>
          <p:spPr>
            <a:xfrm>
              <a:off x="4667250" y="114300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48"/>
            <p:cNvSpPr/>
            <p:nvPr/>
          </p:nvSpPr>
          <p:spPr>
            <a:xfrm>
              <a:off x="4667250" y="1143000"/>
              <a:ext cx="76200" cy="952500"/>
            </a:xfrm>
            <a:prstGeom prst="roundRect">
              <a:avLst>
                <a:gd fmla="val 50000" name="adj"/>
              </a:avLst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48"/>
            <p:cNvSpPr txBox="1"/>
            <p:nvPr/>
          </p:nvSpPr>
          <p:spPr>
            <a:xfrm>
              <a:off x="4857750" y="1190625"/>
              <a:ext cx="3571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856404"/>
                  </a:solidFill>
                  <a:latin typeface="Calibri"/>
                  <a:ea typeface="Calibri"/>
                  <a:cs typeface="Calibri"/>
                  <a:sym typeface="Calibri"/>
                </a:rPr>
                <a:t>Normalização</a:t>
              </a:r>
              <a:endParaRPr b="1" sz="1100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O método de size factors corrige diferenças de profundidade entre as amostras.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2" name="Google Shape;852;p48"/>
            <p:cNvSpPr/>
            <p:nvPr/>
          </p:nvSpPr>
          <p:spPr>
            <a:xfrm>
              <a:off x="571500" y="2238375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48"/>
            <p:cNvSpPr/>
            <p:nvPr/>
          </p:nvSpPr>
          <p:spPr>
            <a:xfrm>
              <a:off x="571500" y="2238375"/>
              <a:ext cx="76200" cy="952500"/>
            </a:xfrm>
            <a:prstGeom prst="roundRect">
              <a:avLst>
                <a:gd fmla="val 5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48"/>
            <p:cNvSpPr txBox="1"/>
            <p:nvPr/>
          </p:nvSpPr>
          <p:spPr>
            <a:xfrm>
              <a:off x="762000" y="2286000"/>
              <a:ext cx="3571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Visualização (MA Plot)</a:t>
              </a:r>
              <a:endParaRPr b="1" sz="11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Mostra a relação entre a expressão média e o log2FoldChange, evidenciando o efeito do shrinkage.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5" name="Google Shape;855;p48"/>
            <p:cNvSpPr/>
            <p:nvPr/>
          </p:nvSpPr>
          <p:spPr>
            <a:xfrm>
              <a:off x="4667250" y="2238375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48"/>
            <p:cNvSpPr/>
            <p:nvPr/>
          </p:nvSpPr>
          <p:spPr>
            <a:xfrm>
              <a:off x="4667250" y="2238375"/>
              <a:ext cx="76200" cy="952500"/>
            </a:xfrm>
            <a:prstGeom prst="roundRect">
              <a:avLst>
                <a:gd fmla="val 50000" name="adj"/>
              </a:avLst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48"/>
            <p:cNvSpPr txBox="1"/>
            <p:nvPr/>
          </p:nvSpPr>
          <p:spPr>
            <a:xfrm>
              <a:off x="4857750" y="2286000"/>
              <a:ext cx="3571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856404"/>
                  </a:solidFill>
                  <a:latin typeface="Calibri"/>
                  <a:ea typeface="Calibri"/>
                  <a:cs typeface="Calibri"/>
                  <a:sym typeface="Calibri"/>
                </a:rPr>
                <a:t>Visualização (Volcano)</a:t>
              </a:r>
              <a:endParaRPr b="1" sz="1100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Combina significância estatística (−log10 p-valor) com magnitude biológica (LFC).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8" name="Google Shape;858;p48"/>
            <p:cNvSpPr/>
            <p:nvPr/>
          </p:nvSpPr>
          <p:spPr>
            <a:xfrm>
              <a:off x="571500" y="333375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48"/>
            <p:cNvSpPr/>
            <p:nvPr/>
          </p:nvSpPr>
          <p:spPr>
            <a:xfrm>
              <a:off x="571500" y="3333750"/>
              <a:ext cx="76200" cy="952500"/>
            </a:xfrm>
            <a:prstGeom prst="roundRect">
              <a:avLst>
                <a:gd fmla="val 50000" name="adj"/>
              </a:avLst>
            </a:prstGeom>
            <a:solidFill>
              <a:srgbClr val="004B87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48"/>
            <p:cNvSpPr txBox="1"/>
            <p:nvPr/>
          </p:nvSpPr>
          <p:spPr>
            <a:xfrm>
              <a:off x="762000" y="3381375"/>
              <a:ext cx="3571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004B87"/>
                  </a:solidFill>
                  <a:latin typeface="Calibri"/>
                  <a:ea typeface="Calibri"/>
                  <a:cs typeface="Calibri"/>
                  <a:sym typeface="Calibri"/>
                </a:rPr>
                <a:t>Enriquecimento (ORA vs GSEA)</a:t>
              </a:r>
              <a:endParaRPr b="1" sz="1100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ORA foca em genes DE (corte fixo), enquanto GSEA usa o ranking completo dos genes.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1" name="Google Shape;861;p48"/>
            <p:cNvSpPr/>
            <p:nvPr/>
          </p:nvSpPr>
          <p:spPr>
            <a:xfrm>
              <a:off x="4667250" y="3333750"/>
              <a:ext cx="3905400" cy="952500"/>
            </a:xfrm>
            <a:prstGeom prst="roundRect">
              <a:avLst>
                <a:gd fmla="val 12000" name="adj"/>
              </a:avLst>
            </a:prstGeom>
            <a:solidFill>
              <a:srgbClr val="FFFFFF"/>
            </a:solidFill>
            <a:ln cap="flat" cmpd="sng" w="9525">
              <a:solidFill>
                <a:srgbClr val="D1D5DB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48"/>
            <p:cNvSpPr/>
            <p:nvPr/>
          </p:nvSpPr>
          <p:spPr>
            <a:xfrm>
              <a:off x="4667250" y="3333750"/>
              <a:ext cx="76200" cy="952500"/>
            </a:xfrm>
            <a:prstGeom prst="roundRect">
              <a:avLst>
                <a:gd fmla="val 50000" name="adj"/>
              </a:avLst>
            </a:prstGeom>
            <a:solidFill>
              <a:srgbClr val="DEA022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48"/>
            <p:cNvSpPr txBox="1"/>
            <p:nvPr/>
          </p:nvSpPr>
          <p:spPr>
            <a:xfrm>
              <a:off x="4857750" y="3381375"/>
              <a:ext cx="3571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pt-BR" sz="1100">
                  <a:solidFill>
                    <a:srgbClr val="856404"/>
                  </a:solidFill>
                  <a:latin typeface="Calibri"/>
                  <a:ea typeface="Calibri"/>
                  <a:cs typeface="Calibri"/>
                  <a:sym typeface="Calibri"/>
                </a:rPr>
                <a:t>Reprodutibilidade</a:t>
              </a:r>
              <a:endParaRPr b="1" sz="1100">
                <a:solidFill>
                  <a:srgbClr val="856404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lang="pt-BR" sz="1100">
                  <a:solidFill>
                    <a:srgbClr val="333333"/>
                  </a:solidFill>
                  <a:latin typeface="Calibri"/>
                  <a:ea typeface="Calibri"/>
                  <a:cs typeface="Calibri"/>
                  <a:sym typeface="Calibri"/>
                </a:rPr>
                <a:t>A organização de pastas e o uso de arquivos README são cruciais para a ciência aberta.</a:t>
              </a:r>
              <a:endParaRPr sz="1100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64" name="Google Shape;864;p48"/>
          <p:cNvSpPr txBox="1"/>
          <p:nvPr/>
        </p:nvSpPr>
        <p:spPr>
          <a:xfrm>
            <a:off x="0" y="4857750"/>
            <a:ext cx="9144000" cy="123000"/>
          </a:xfrm>
          <a:prstGeom prst="rect">
            <a:avLst/>
          </a:prstGeom>
          <a:solidFill>
            <a:srgbClr val="000000">
              <a:alpha val="0"/>
            </a:srgbClr>
          </a:solidFill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800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800">
              <a:solidFill>
                <a:srgbClr val="66666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868" name="Shape 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9" name="Google Shape;869;p49"/>
          <p:cNvSpPr/>
          <p:nvPr/>
        </p:nvSpPr>
        <p:spPr>
          <a:xfrm>
            <a:off x="0" y="0"/>
            <a:ext cx="2400300" cy="82296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0" name="Google Shape;870;p49"/>
          <p:cNvSpPr/>
          <p:nvPr/>
        </p:nvSpPr>
        <p:spPr>
          <a:xfrm>
            <a:off x="2400300" y="0"/>
            <a:ext cx="6743471" cy="82296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1" name="Google Shape;871;p49"/>
          <p:cNvSpPr txBox="1"/>
          <p:nvPr/>
        </p:nvSpPr>
        <p:spPr>
          <a:xfrm>
            <a:off x="411480" y="274320"/>
            <a:ext cx="82296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2300" u="none" cap="none" strike="noStrike">
                <a:solidFill>
                  <a:srgbClr val="222222"/>
                </a:solidFill>
                <a:latin typeface="Calibri"/>
                <a:ea typeface="Calibri"/>
                <a:cs typeface="Calibri"/>
                <a:sym typeface="Calibri"/>
              </a:rPr>
              <a:t>📚  Referências</a:t>
            </a:r>
            <a:endParaRPr sz="1100"/>
          </a:p>
        </p:txBody>
      </p:sp>
      <p:sp>
        <p:nvSpPr>
          <p:cNvPr id="872" name="Google Shape;872;p49"/>
          <p:cNvSpPr/>
          <p:nvPr/>
        </p:nvSpPr>
        <p:spPr>
          <a:xfrm>
            <a:off x="548640" y="891540"/>
            <a:ext cx="8023860" cy="329184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49"/>
          <p:cNvSpPr txBox="1"/>
          <p:nvPr/>
        </p:nvSpPr>
        <p:spPr>
          <a:xfrm>
            <a:off x="822960" y="1028700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Love MI, Huber W, Anders S. (2014). Moderated estimation of fold change and dispersion for RNA-seq data with DESeq2. Genome Biology, 15:550.</a:t>
            </a:r>
            <a:endParaRPr sz="1100"/>
          </a:p>
        </p:txBody>
      </p:sp>
      <p:sp>
        <p:nvSpPr>
          <p:cNvPr id="874" name="Google Shape;874;p49"/>
          <p:cNvSpPr txBox="1"/>
          <p:nvPr/>
        </p:nvSpPr>
        <p:spPr>
          <a:xfrm>
            <a:off x="822960" y="1543050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Dobin A et al. (2013). STAR: ultrafast universal RNA-seq aligner. Bioinformatics, 29(1):15-21.</a:t>
            </a:r>
            <a:endParaRPr sz="1100"/>
          </a:p>
        </p:txBody>
      </p:sp>
      <p:sp>
        <p:nvSpPr>
          <p:cNvPr id="875" name="Google Shape;875;p49"/>
          <p:cNvSpPr txBox="1"/>
          <p:nvPr/>
        </p:nvSpPr>
        <p:spPr>
          <a:xfrm>
            <a:off x="822960" y="2057400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Yu G et al. (2012). clusterProfiler: an R Package for Comparing Biological Themes Among Gene Clusters. OMICS, 16(5):284-287.</a:t>
            </a:r>
            <a:endParaRPr sz="1100"/>
          </a:p>
        </p:txBody>
      </p:sp>
      <p:sp>
        <p:nvSpPr>
          <p:cNvPr id="876" name="Google Shape;876;p49"/>
          <p:cNvSpPr txBox="1"/>
          <p:nvPr/>
        </p:nvSpPr>
        <p:spPr>
          <a:xfrm>
            <a:off x="822960" y="2571750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Subramanian A et al. (2005). Gene set enrichment analysis. PNAS, 102(43):15545-15550.</a:t>
            </a:r>
            <a:endParaRPr sz="1100"/>
          </a:p>
        </p:txBody>
      </p:sp>
      <p:sp>
        <p:nvSpPr>
          <p:cNvPr id="877" name="Google Shape;877;p49"/>
          <p:cNvSpPr txBox="1"/>
          <p:nvPr/>
        </p:nvSpPr>
        <p:spPr>
          <a:xfrm>
            <a:off x="822960" y="3086100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DESeq2 Vignette: bioconductor.org/packages/release/bioc/vignettes/DESeq2/inst/doc/DESeq2.html</a:t>
            </a:r>
            <a:endParaRPr sz="1100"/>
          </a:p>
        </p:txBody>
      </p:sp>
      <p:sp>
        <p:nvSpPr>
          <p:cNvPr id="878" name="Google Shape;878;p49"/>
          <p:cNvSpPr txBox="1"/>
          <p:nvPr/>
        </p:nvSpPr>
        <p:spPr>
          <a:xfrm>
            <a:off x="822960" y="3600450"/>
            <a:ext cx="754380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9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•  clusterProfiler Book: yulab-smu.top/biomedical-knowledge-mining-book/</a:t>
            </a:r>
            <a:endParaRPr sz="1100"/>
          </a:p>
        </p:txBody>
      </p:sp>
      <p:sp>
        <p:nvSpPr>
          <p:cNvPr id="879" name="Google Shape;879;p49"/>
          <p:cNvSpPr txBox="1"/>
          <p:nvPr/>
        </p:nvSpPr>
        <p:spPr>
          <a:xfrm>
            <a:off x="342900" y="4869180"/>
            <a:ext cx="6172200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6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4EE"/>
        </a:solidFill>
      </p:bgPr>
    </p:bg>
    <p:spTree>
      <p:nvGrpSpPr>
        <p:cNvPr id="883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4" name="Google Shape;884;p50"/>
          <p:cNvSpPr/>
          <p:nvPr/>
        </p:nvSpPr>
        <p:spPr>
          <a:xfrm>
            <a:off x="0" y="0"/>
            <a:ext cx="2400300" cy="82296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5" name="Google Shape;885;p50"/>
          <p:cNvSpPr/>
          <p:nvPr/>
        </p:nvSpPr>
        <p:spPr>
          <a:xfrm>
            <a:off x="2400300" y="0"/>
            <a:ext cx="6743471" cy="82296"/>
          </a:xfrm>
          <a:prstGeom prst="rect">
            <a:avLst/>
          </a:prstGeom>
          <a:solidFill>
            <a:srgbClr val="DEA022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6" name="Google Shape;886;p50"/>
          <p:cNvSpPr txBox="1"/>
          <p:nvPr/>
        </p:nvSpPr>
        <p:spPr>
          <a:xfrm>
            <a:off x="685800" y="1714500"/>
            <a:ext cx="7543800" cy="62324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pt-BR" sz="3600" u="none" cap="none" strike="noStrike">
                <a:solidFill>
                  <a:srgbClr val="004B87"/>
                </a:solidFill>
                <a:latin typeface="Calibri"/>
                <a:ea typeface="Calibri"/>
                <a:cs typeface="Calibri"/>
                <a:sym typeface="Calibri"/>
              </a:rPr>
              <a:t>Obrigada!</a:t>
            </a:r>
            <a:endParaRPr sz="1100"/>
          </a:p>
        </p:txBody>
      </p:sp>
      <p:sp>
        <p:nvSpPr>
          <p:cNvPr id="887" name="Google Shape;887;p50"/>
          <p:cNvSpPr/>
          <p:nvPr/>
        </p:nvSpPr>
        <p:spPr>
          <a:xfrm>
            <a:off x="3429000" y="2468880"/>
            <a:ext cx="2263140" cy="27432"/>
          </a:xfrm>
          <a:prstGeom prst="rect">
            <a:avLst/>
          </a:prstGeom>
          <a:solidFill>
            <a:srgbClr val="004B87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8" name="Google Shape;888;p50"/>
          <p:cNvSpPr txBox="1"/>
          <p:nvPr/>
        </p:nvSpPr>
        <p:spPr>
          <a:xfrm>
            <a:off x="685800" y="2743200"/>
            <a:ext cx="7543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700" u="none" cap="none" strike="noStrike">
                <a:solidFill>
                  <a:srgbClr val="333333"/>
                </a:solidFill>
                <a:latin typeface="Calibri"/>
                <a:ea typeface="Calibri"/>
                <a:cs typeface="Calibri"/>
                <a:sym typeface="Calibri"/>
              </a:rPr>
              <a:t>Dúvidas?</a:t>
            </a:r>
            <a:endParaRPr sz="1100"/>
          </a:p>
        </p:txBody>
      </p:sp>
      <p:sp>
        <p:nvSpPr>
          <p:cNvPr id="889" name="Google Shape;889;p50"/>
          <p:cNvSpPr txBox="1"/>
          <p:nvPr/>
        </p:nvSpPr>
        <p:spPr>
          <a:xfrm>
            <a:off x="685800" y="3977640"/>
            <a:ext cx="75438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100" u="none" cap="none" strike="noStrike">
                <a:solidFill>
                  <a:srgbClr val="666666"/>
                </a:solidFill>
                <a:latin typeface="Calibri"/>
                <a:ea typeface="Calibri"/>
                <a:cs typeface="Calibri"/>
                <a:sym typeface="Calibri"/>
              </a:rPr>
              <a:t>Aula Prática RNA-seq — UFRJ 2026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