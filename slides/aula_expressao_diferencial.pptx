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4B87"/>
                </a:solidFill>
                <a:latin typeface="Calibri"/>
              </a:defRPr>
            </a:pPr>
            <a:r>
              <a:t>Expressão Diferencial</a:t>
            </a:r>
            <a:br/>
            <a:r>
              <a:t>de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Análise de RNA-seq com DESeq2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114800"/>
            <a:ext cx="3931920" cy="36576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222"/>
                </a:solidFill>
                <a:latin typeface="Calibri"/>
              </a:defRPr>
            </a:pPr>
            <a:r>
              <a:t>📋 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418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B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A022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A022"/>
                </a:solidFill>
                <a:latin typeface="Calibri"/>
              </a:defRPr>
            </a:pPr>
            <a:r>
              <a:t>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Organização, Git e Reprodutibilidade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67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677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Revisão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677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Pipeline RNA-seq: onde estamos?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809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596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809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96"/>
                </a:solidFill>
                <a:latin typeface="Calibri"/>
              </a:defRPr>
            </a:pPr>
            <a:r>
              <a:t>Teoria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809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Expressão diferencial com DESeq2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941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A022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A022"/>
                </a:solidFill>
                <a:latin typeface="Calibri"/>
              </a:defRPr>
            </a:pPr>
            <a:r>
              <a:t>Prática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941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Rodando a análise no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596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07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96"/>
                </a:solidFill>
                <a:latin typeface="Calibri"/>
              </a:defRPr>
            </a:pPr>
            <a:r>
              <a:t>Teoria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074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Métricas de qualidade: MA plot &amp; Volcano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A1B9A"/>
                </a:solidFill>
                <a:latin typeface="Calibri"/>
              </a:defRPr>
            </a:pPr>
            <a:r>
              <a:t>Prática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Enriquecimento funcional: ORA, GSEA, KEGG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B87"/>
                </a:solidFill>
                <a:latin typeface="Calibri"/>
              </a:defRPr>
            </a:pPr>
            <a:r>
              <a:t>Boas Práticas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Organização, reprodutibilidade e documentação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📁  Estrutura de Diretórios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097280"/>
            <a:ext cx="941832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188720"/>
            <a:ext cx="9144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400">
                <a:solidFill>
                  <a:srgbClr val="C5E1A5"/>
                </a:solidFill>
                <a:latin typeface="Consolas"/>
              </a:defRPr>
            </a:pPr>
            <a:r>
              <a:t>projeto-rnaseq/</a:t>
            </a:r>
            <a:br/>
            <a:r>
              <a:t>├── README.md              ← ESSENCIAL!</a:t>
            </a:r>
            <a:br/>
            <a:r>
              <a:t>├── data/</a:t>
            </a:r>
            <a:br/>
            <a:r>
              <a:t>│   ├── raw/               ← FASTQ brutos (nunca alterar)</a:t>
            </a:r>
            <a:br/>
            <a:r>
              <a:t>│   ├── trimmed/           ← FASTQ após trimming</a:t>
            </a:r>
            <a:br/>
            <a:r>
              <a:t>│   └── counts/            ← Matriz de contagens</a:t>
            </a:r>
            <a:br/>
            <a:r>
              <a:t>├── reference/             ← Genoma, GTF, índice STAR</a:t>
            </a:r>
            <a:br/>
            <a:r>
              <a:t>├── scripts/               ← Scripts R, bash, etc.</a:t>
            </a:r>
            <a:br/>
            <a:r>
              <a:t>├── results/</a:t>
            </a:r>
            <a:br/>
            <a:r>
              <a:t>│   ├── fastqc/            ← Relatórios QC</a:t>
            </a:r>
            <a:br/>
            <a:r>
              <a:t>│   ├── star/              ← BAMs e logs</a:t>
            </a:r>
            <a:br/>
            <a:r>
              <a:t>│   ├── figures/           ← Plots exportados</a:t>
            </a:r>
            <a:br/>
            <a:r>
              <a:t>│   ├── tables/            ← Tabelas CSV</a:t>
            </a:r>
            <a:br/>
            <a:r>
              <a:t>│   └── objects/           ← Objetos R (.rds)</a:t>
            </a:r>
            <a:br/>
            <a:r>
              <a:t>└── .gitignore             ← Excluir arquivos grandes!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Calibri"/>
              </a:defRPr>
            </a:pPr>
            <a:r>
              <a:t>📝  O README — Seu "eu do futuro" agradece!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858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O arquivo README.md deve conter: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do projeto/análise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40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408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Dados: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408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origem, organismo, condições, réplicas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52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Software e versões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usados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64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Estrutura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64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 diretórios (o que está onde)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770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770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Como reproduzir: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8770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sequência de comandos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da análise e responsável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011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011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B87"/>
                </a:solidFill>
                <a:latin typeface="Calibri"/>
              </a:defRPr>
            </a:pPr>
            <a:r>
              <a:t>Referências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901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(papers, protocolos)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188720"/>
            <a:ext cx="3474720" cy="2286000"/>
          </a:xfrm>
          <a:prstGeom prst="roundRect">
            <a:avLst/>
          </a:prstGeom>
          <a:solidFill>
            <a:srgbClr val="FF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280160"/>
            <a:ext cx="31546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333333"/>
                </a:solidFill>
                <a:latin typeface="Calibri"/>
              </a:defRPr>
            </a:pPr>
            <a:r>
              <a:t>⚠️ Regra de ouro:</a:t>
            </a:r>
            <a:br/>
            <a:br/>
            <a:r>
              <a:t>Escreva o README como se fosse para alguém que nunca viu seu projeto — provavelmente será você em 6 meses.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40480"/>
            <a:ext cx="3474720" cy="201168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Reprodutibilidade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sessionInfo() no final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681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Nunca altere dados brutos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9743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Salve objetos (.rds)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266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Caminhos relativos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559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Versione com Git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Calibri"/>
              </a:defRPr>
            </a:pPr>
            <a:r>
              <a:t>⚙️  Ambientes e Controle de Versão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B87"/>
                </a:solidFill>
                <a:latin typeface="Calibri"/>
              </a:defRPr>
            </a:pPr>
            <a:r>
              <a:t>R Projects (.Rproj)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Isola o diretório de trabalho (working directory)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Não use setwd()! Ele quebra a reprodutibilidade em outros PCs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Caminhos relativos: read.table('data/counts.txt')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Facilita compartilhamento da pasta inteira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B87"/>
                </a:solidFill>
                <a:latin typeface="Calibri"/>
              </a:defRPr>
            </a:pPr>
            <a:r>
              <a:t>Isolamento e Histórico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Conda / renv: Gerencie as versões de pacotes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O pacote DESeq2 v1.38 pode dar resultados diferentes da v1.42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Git: Controle de versão para scripts (NÃO PARA DADOS)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Use o .gitignore para ignorar FASTQ, BAM, .rds grandes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B87"/>
                </a:solidFill>
                <a:latin typeface="Calibri"/>
              </a:defRPr>
            </a:pPr>
            <a:r>
              <a:t>Revisão do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De onde viemos e para onde vamos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🗺️  O Pipeline de RNA-seq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📁 FASTQ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1463040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7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🔍 QC</a:t>
            </a:r>
            <a:br/>
            <a:r>
              <a:t>FastQC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94176" y="1463040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✂️ Trimming</a:t>
            </a:r>
            <a:br/>
            <a:r>
              <a:t>Trim Galore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3" y="1463040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3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🧭 Mapeamento</a:t>
            </a:r>
            <a:br/>
            <a:r>
              <a:t>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1463040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📊 Contagens</a:t>
            </a:r>
            <a:br/>
            <a:r>
              <a:t>featureCounts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463040"/>
            <a:ext cx="13258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596"/>
                </a:solidFill>
                <a:latin typeface="Calibri"/>
              </a:defRPr>
            </a:pPr>
            <a:r>
              <a:t>📈 Expr. Diferencial</a:t>
            </a:r>
            <a:br/>
            <a:r>
              <a:t>DESeq2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7" y="1463040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155448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A1B9A"/>
                </a:solidFill>
                <a:latin typeface="Calibri"/>
              </a:defRPr>
            </a:pPr>
            <a:r>
              <a:t>🧩 Enriquecimento</a:t>
            </a:r>
            <a:br/>
            <a:r>
              <a:t>clusterProfiler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017520"/>
            <a:ext cx="9418320" cy="822960"/>
          </a:xfrm>
          <a:prstGeom prst="roundRect">
            <a:avLst/>
          </a:prstGeom>
          <a:solidFill>
            <a:srgbClr val="F6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3017520"/>
            <a:ext cx="54864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3108960"/>
            <a:ext cx="9098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33333"/>
                </a:solidFill>
                <a:latin typeface="Calibri"/>
              </a:defRPr>
            </a:pPr>
            <a:r>
              <a:t>✅ Vocês já fizeram:  QC → Trimming → STAR → featureCounts</a:t>
            </a:r>
            <a:br/>
            <a:r>
              <a:t>📌 Hoje:  Expressão Diferencial + Enriquecimento Funcional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🔍  QC — O que verificamos?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B87"/>
                </a:solidFill>
                <a:latin typeface="Calibri"/>
              </a:defRPr>
            </a:pPr>
            <a:r>
              <a:t>FastQC / MultiQC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Phred Score ≥ 28 por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Conteúdo GC — distribuição esperada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Adaptadores — presença de Illumina adapters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Duplicatas — níveis de duplicação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Sequências super-representadas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029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B87"/>
                </a:solidFill>
                <a:latin typeface="Calibri"/>
              </a:defRPr>
            </a:pPr>
            <a:r>
              <a:t>Após Trimming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Remoção de adaptadores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514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Corte de bases de baixa qualidade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Filtro de reads muito curtas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20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Comparar relatórios antes/depois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🧭  STAR — Mapeamento ao Genoma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8580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B87"/>
                </a:solidFill>
                <a:latin typeface="Calibri"/>
              </a:defRPr>
            </a:pPr>
            <a:r>
              <a:t>STAR = Spliced Transcripts Alignment to a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Splice-aware: reconhece junções éxon-éxon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Duas etapas: indexação do genoma + mapeamento das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Extremamente rápido, mas exige muita RAM (~32 GB para humano)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2743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A022"/>
                </a:solidFill>
                <a:latin typeface="Calibri"/>
              </a:defRPr>
            </a:pPr>
            <a:r>
              <a:t>Métricas-chave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(Log.final.out)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Uniquely mapped &gt; 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Multi-mapped &lt;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Unmapped &lt;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📊  featureCounts — Quantificação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400800" cy="22860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6126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5E1A5"/>
                </a:solidFill>
                <a:latin typeface="Consolas"/>
              </a:defRPr>
            </a:pPr>
            <a:r>
              <a:t>featureCounts \</a:t>
            </a:r>
            <a:br/>
            <a:r>
              <a:t>  -a reference/genes.gtf \</a:t>
            </a:r>
            <a:br/>
            <a:r>
              <a:t>  -o results/counts/gene_counts.txt \</a:t>
            </a:r>
            <a:br/>
            <a:r>
              <a:t>  -p --countReadPairs \</a:t>
            </a:r>
            <a:br/>
            <a:r>
              <a:t>  -s 2 \</a:t>
            </a:r>
            <a:br/>
            <a:r>
              <a:t>  -T 4 \</a:t>
            </a:r>
            <a:br/>
            <a:r>
              <a:t>  results/star/*_Aligned.sortedByCoord.out.bam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188720"/>
            <a:ext cx="3840480" cy="1463040"/>
          </a:xfrm>
          <a:prstGeom prst="roundRect">
            <a:avLst/>
          </a:prstGeom>
          <a:solidFill>
            <a:srgbClr val="FF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188720"/>
            <a:ext cx="54864" cy="146304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333333"/>
                </a:solidFill>
                <a:latin typeface="Calibri"/>
              </a:defRPr>
            </a:pPr>
            <a:r>
              <a:t>⚠️ Strandedness:</a:t>
            </a:r>
            <a:br/>
            <a:r>
              <a:t>  -s 0  unstranded</a:t>
            </a:r>
            <a:br/>
            <a:r>
              <a:t>  -s 1  sense</a:t>
            </a:r>
            <a:br/>
            <a:r>
              <a:t>  -s 2  antisense (TruSeq stranded)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26080"/>
            <a:ext cx="3840480" cy="1097280"/>
          </a:xfrm>
          <a:prstGeom prst="roundRect">
            <a:avLst/>
          </a:prstGeom>
          <a:solidFill>
            <a:srgbClr val="C8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2926080"/>
            <a:ext cx="54864" cy="109728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333333"/>
                </a:solidFill>
                <a:latin typeface="Calibri"/>
              </a:defRPr>
            </a:pPr>
            <a:r>
              <a:t>ℹ️ Output: matriz de contagens brutas (raw counts).</a:t>
            </a:r>
            <a:br/>
            <a:r>
              <a:t>Normalização será feita pelo DESeq2!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B87"/>
                </a:solidFill>
                <a:latin typeface="Calibri"/>
              </a:defRPr>
            </a:pPr>
            <a:r>
              <a:t>Expressão Diferencial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DESeq2 — Teoria e conceitos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❓  O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Dadas duas condições (ex.: controle vs. tratamento), queremos saber: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4B87"/>
                </a:solidFill>
                <a:latin typeface="Calibri"/>
              </a:defRPr>
            </a:pPr>
            <a:r>
              <a:t>Quais genes mudam significativamente</a:t>
            </a:r>
            <a:br/>
            <a:r>
              <a:t>de expressão entre as condições?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 essa mudança é biologicamente relevante e estatisticamente confiável?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Calibri"/>
              </a:defRPr>
            </a:pPr>
            <a:r>
              <a:t>🚫  Por que NÃO usar fold-change simples?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91440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33333"/>
                </a:solidFill>
                <a:latin typeface="Calibri"/>
              </a:defRPr>
            </a:pPr>
            <a:r>
              <a:t>Gene A: 2 → 8 reads   |   FC = 4x   →   Pouca evidência!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029200" cy="914400"/>
          </a:xfrm>
          <a:prstGeom prst="roundRect">
            <a:avLst/>
          </a:prstGeom>
          <a:solidFill>
            <a:srgbClr val="F6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33333"/>
                </a:solidFill>
                <a:latin typeface="Calibri"/>
              </a:defRPr>
            </a:pPr>
            <a:r>
              <a:t>Gene B: 5000 → 10000 reads   |   FC = 2x   →   Muita evidência!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Problemas do FC simples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✗  Ignora a variabilidade entre réplicas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✗  Genes pouco expressos geram FCs "ruidosos"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✗  Não fornece uma medida de confiança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✗  Não corrige para múltiplos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🔬  DESeq2 — O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8580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Modelo: Binomial Negativa (Negative Binomial)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828800"/>
            <a:ext cx="4114800" cy="640080"/>
          </a:xfrm>
          <a:prstGeom prst="roundRect">
            <a:avLst/>
          </a:prstGeom>
          <a:solidFill>
            <a:srgbClr val="0D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B87"/>
                </a:solidFill>
                <a:latin typeface="Consolas"/>
              </a:defRPr>
            </a:pPr>
            <a:r>
              <a:t>Kᵢⱼ  ~  NB( μᵢⱼ , αᵢ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Kᵢⱼ = contagem do gene i na amostra 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μᵢⱼ = média esperada (size factor + efeito da condição)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αᵢ  = dispersão do gene i (variabilidade biológica)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474720" cy="2286000"/>
          </a:xfrm>
          <a:prstGeom prst="roundRect">
            <a:avLst/>
          </a:prstGeom>
          <a:solidFill>
            <a:srgbClr val="C8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1546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Por que Binomial Negativa?</a:t>
            </a:r>
            <a:br/>
            <a:br/>
            <a:r>
              <a:t>Dados de RNA-seq apresentam overdispersion: a variância é maior que a média (var &gt; μ), diferente de Poisson (var = μ).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⚙️  O que DESeq() faz internamente?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5596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596"/>
                </a:solidFill>
                <a:latin typeface="Calibri"/>
              </a:defRPr>
            </a:pPr>
            <a:r>
              <a:t>Normalização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Estimação dos size factors — corrige diferenças de profundidade (método da mediana das razões)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3172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E7D32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Estimação da dispersão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43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Estima αᵢ por gene, com shrinkage empírico bayesiano (empresta informação de genes similares)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EA022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20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EA022"/>
                </a:solidFill>
                <a:latin typeface="Calibri"/>
              </a:defRPr>
            </a:pPr>
            <a:r>
              <a:t>Ajuste do GLM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86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Ajusta o modelo linear generalizado Binomial Negativa para cada gene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103327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A1B9A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Teste de Wald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292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Testa H₀: log2FoldChange = 0 → gera p-valor → correção BH (padj)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📏  Conceitos-chave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188720"/>
            <a:ext cx="22860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161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Métrica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50292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16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O que significa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188720"/>
            <a:ext cx="22860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2161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Critério típico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7830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783080"/>
            <a:ext cx="5029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7830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1801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B87"/>
                </a:solidFill>
                <a:latin typeface="Consolas"/>
              </a:defRPr>
            </a:pPr>
            <a:r>
              <a:t>baseMean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01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Média das contagens normalizadas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801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286000"/>
            <a:ext cx="22860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2286000"/>
            <a:ext cx="50292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2286000"/>
            <a:ext cx="22860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B87"/>
                </a:solidFill>
                <a:latin typeface="Consolas"/>
              </a:defRPr>
            </a:pPr>
            <a:r>
              <a:t>log2FoldChange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3042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Magnitude da mudança (log2)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|LFC| &gt;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278892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2788920"/>
            <a:ext cx="5029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278892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2807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B87"/>
                </a:solidFill>
                <a:latin typeface="Consolas"/>
              </a:defRPr>
            </a:pPr>
            <a:r>
              <a:t>lfcSE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8072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Erro padrão do LFC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2807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291840"/>
            <a:ext cx="22860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3291840"/>
            <a:ext cx="50292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3291840"/>
            <a:ext cx="22860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3101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B87"/>
                </a:solidFill>
                <a:latin typeface="Consolas"/>
              </a:defRPr>
            </a:pPr>
            <a:r>
              <a:t>pvalue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3101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P-valor (teste de Wald)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33101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379476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83280" y="3794760"/>
            <a:ext cx="5029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0" y="379476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38130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B87"/>
                </a:solidFill>
                <a:latin typeface="Consolas"/>
              </a:defRPr>
            </a:pPr>
            <a:r>
              <a:t>padj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130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P-valor ajustado (Benjamini-Hochberg)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38130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&lt; 0.05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4572000"/>
            <a:ext cx="9601200" cy="731520"/>
          </a:xfrm>
          <a:prstGeom prst="roundRect">
            <a:avLst/>
          </a:prstGeom>
          <a:solidFill>
            <a:srgbClr val="FF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0" y="4572000"/>
            <a:ext cx="54864" cy="73152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4663440"/>
            <a:ext cx="9281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333333"/>
                </a:solidFill>
                <a:latin typeface="Calibri"/>
              </a:defRPr>
            </a:pPr>
            <a:r>
              <a:t>⚠️ Sempre use padj, nunca o p-valor bruto! Com milhares de testes simultâneos, a correção para múltiplos testes é essencial para controlar falsos positivos (FDR).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📐  Log2 Fold Change — Interpretação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18288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log2FC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18288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Fold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188720"/>
            <a:ext cx="59436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2161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Interpretação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78308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178308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783080"/>
            <a:ext cx="5943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801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onsolas"/>
              </a:defRPr>
            </a:pPr>
            <a:r>
              <a:t>+2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01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8013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4 vezes mais expresso no tratamento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2331720"/>
            <a:ext cx="1828800" cy="50292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331720"/>
            <a:ext cx="1828800" cy="50292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2331720"/>
            <a:ext cx="5943600" cy="50292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3500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EA022"/>
                </a:solidFill>
                <a:latin typeface="Consolas"/>
              </a:defRPr>
            </a:pPr>
            <a:r>
              <a:t>+1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3500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35000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 vezes mais expresso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288036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288036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0" y="2880360"/>
            <a:ext cx="5943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2898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6666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898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89864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Sem mudança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3429000"/>
            <a:ext cx="1828800" cy="50292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0" y="3429000"/>
            <a:ext cx="1828800" cy="50292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0" y="3429000"/>
            <a:ext cx="5943600" cy="50292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34472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596"/>
                </a:solidFill>
                <a:latin typeface="Consolas"/>
              </a:defRPr>
            </a:pPr>
            <a:r>
              <a:t>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4472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0.5x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44728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 vezes menos expresso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3977639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0" y="3977639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0" y="3977639"/>
            <a:ext cx="5943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399592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4B87"/>
                </a:solidFill>
                <a:latin typeface="Consolas"/>
              </a:defRPr>
            </a:pPr>
            <a: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99592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0.25x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3995927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4 vezes menos expresso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754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Escala logarítmica torna a comparação simétrica: +1 e -1 representam a mesma magnitude de mudança.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B87"/>
                </a:solidFill>
                <a:latin typeface="Calibri"/>
              </a:defRPr>
            </a:pPr>
            <a:r>
              <a:t>Prática — DESeq2 no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Mãos na massa!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📂  Importar os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347472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10424159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5E1A5"/>
                </a:solidFill>
                <a:latin typeface="Consolas"/>
              </a:defRPr>
            </a:pPr>
            <a:r>
              <a:t># Ler a saída do featureCounts</a:t>
            </a:r>
            <a:br/>
            <a:r>
              <a:t>counts_raw &lt;- read.table("data/counts/gene_counts.txt",</a:t>
            </a:r>
            <a:br/>
            <a:r>
              <a:t>    header = TRUE, row.names = 1,</a:t>
            </a:r>
            <a:br/>
            <a:r>
              <a:t>    skip = 1, sep = "\t")</a:t>
            </a:r>
            <a:br/>
            <a:br/>
            <a:r>
              <a:t># Separar contagens das anotações</a:t>
            </a:r>
            <a:br/>
            <a:r>
              <a:t>gene_info     &lt;- counts_raw[, 1:5]</a:t>
            </a:r>
            <a:br/>
            <a:r>
              <a:t>counts_matrix &lt;- counts_raw[, 6:ncol(counts_raw)]</a:t>
            </a:r>
            <a:br/>
            <a:br/>
            <a:r>
              <a:t># Limpar nomes das colunas</a:t>
            </a:r>
            <a:br/>
            <a:r>
              <a:t>colnames(counts_matrix) &lt;- gsub(</a:t>
            </a:r>
            <a:br/>
            <a:r>
              <a:t>    ".*\\/|_Aligned.*|\\.bam", "",</a:t>
            </a:r>
            <a:br/>
            <a:r>
              <a:t>    colnames(counts_matrix))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🏷️  Metadados + Executar DESeq2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01168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5E1A5"/>
                </a:solidFill>
                <a:latin typeface="Consolas"/>
              </a:defRPr>
            </a:pPr>
            <a:r>
              <a:t># Criar metadados</a:t>
            </a:r>
            <a:br/>
            <a:r>
              <a:t>sample_info &lt;- data.frame(</a:t>
            </a:r>
            <a:br/>
            <a:r>
              <a:t>    condition = factor(</a:t>
            </a:r>
            <a:br/>
            <a:r>
              <a:t>        c(rep("controle", 3), rep("tratamento", 3)),</a:t>
            </a:r>
            <a:br/>
            <a:r>
              <a:t>        levels = c("controle", "tratamento")),</a:t>
            </a:r>
            <a:br/>
            <a:r>
              <a:t>    row.names = colnames(counts_matrix))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347472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50292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5E1A5"/>
                </a:solidFill>
                <a:latin typeface="Consolas"/>
              </a:defRPr>
            </a:pPr>
            <a:r>
              <a:t># Criar DESeqDataSet e rodar</a:t>
            </a:r>
            <a:br/>
            <a:r>
              <a:t>dds &lt;- DESeqDataSetFromMatrix(</a:t>
            </a:r>
            <a:br/>
            <a:r>
              <a:t>    countData = counts_matrix,</a:t>
            </a:r>
            <a:br/>
            <a:r>
              <a:t>    colData   = sample_info,</a:t>
            </a:r>
            <a:br/>
            <a:r>
              <a:t>    design    = ~ condition)</a:t>
            </a:r>
            <a:br/>
            <a:br/>
            <a:r>
              <a:t>keep &lt;- rowSums(counts(dds)) &gt;= 10</a:t>
            </a:r>
            <a:br/>
            <a:r>
              <a:t>dds  &lt;- dds[keep, ]</a:t>
            </a:r>
            <a:br/>
            <a:r>
              <a:t>dds  &lt;- DESeq(dds)</a:t>
            </a:r>
            <a:br/>
            <a:br/>
            <a:r>
              <a:t>res &lt;- results(dds,</a:t>
            </a:r>
            <a:br/>
            <a:r>
              <a:t>    contrast = c("condition",</a:t>
            </a:r>
            <a:br/>
            <a:r>
              <a:t>                 "tratamento", "controle"),</a:t>
            </a:r>
            <a:br/>
            <a:r>
              <a:t>    alpha = 0.05)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303520" cy="731520"/>
          </a:xfrm>
          <a:prstGeom prst="roundRect">
            <a:avLst/>
          </a:prstGeom>
          <a:solidFill>
            <a:srgbClr val="FFF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54864" cy="73152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⚠️ O nível de referência (controle) deve ser o primeiro nível do fator.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📉  LFC Shrinkage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943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B87"/>
                </a:solidFill>
                <a:latin typeface="Calibri"/>
              </a:defRPr>
            </a:pPr>
            <a:r>
              <a:t>Por que fazer shrinkage?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Genes com poucas reads podem ter log2FC extremos e ruidosos. O shrinkage "encolhe" esses valores em direção a zero, mantendo os LFCs de genes bem expressos.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943600" cy="13716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5E1A5"/>
                </a:solidFill>
                <a:latin typeface="Consolas"/>
              </a:defRPr>
            </a:pPr>
            <a:r>
              <a:t># Shrinkage com apeglm (recomendado)</a:t>
            </a:r>
            <a:br/>
            <a:r>
              <a:t>res_shrunk &lt;- lfcShrink(dds,</a:t>
            </a:r>
            <a:br/>
            <a:r>
              <a:t>    coef = "condition_tratamento_vs_controle",</a:t>
            </a:r>
            <a:br/>
            <a:r>
              <a:t>    type = "apeglm")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188720"/>
            <a:ext cx="43891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280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B87"/>
                </a:solidFill>
                <a:latin typeface="Calibri"/>
              </a:defRPr>
            </a:pPr>
            <a:r>
              <a:t>🔎 QC: PCA Plot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28800"/>
            <a:ext cx="4023360" cy="109728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92024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5E1A5"/>
                </a:solidFill>
                <a:latin typeface="Consolas"/>
              </a:defRPr>
            </a:pPr>
            <a:r>
              <a:t>vsd &lt;- vst(dds, blind = TRUE)</a:t>
            </a:r>
            <a:br/>
            <a:r>
              <a:t>plotPCA(vsd,</a:t>
            </a:r>
            <a:br/>
            <a:r>
              <a:t>    intgroup = "condition")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089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Amostras da mesma condição devem agrupar juntas. Se não agruparem → investigar batch effects ou outliers.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B87"/>
                </a:solidFill>
                <a:latin typeface="Calibri"/>
              </a:defRPr>
            </a:pPr>
            <a:r>
              <a:t>Métricas de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MA Plot &amp; Volcano Plot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📊  MA 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B87"/>
                </a:solidFill>
                <a:latin typeface="Calibri"/>
              </a:defRPr>
            </a:pPr>
            <a:r>
              <a:t>Como 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Eixo 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baseMean (média de expressão)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Eixo 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log2 Fold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Pontos vermelhos: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genes significativos (padj &lt; 0.05)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Pontos cinza: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não significativos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B87"/>
                </a:solidFill>
                <a:latin typeface="Calibri"/>
              </a:defRPr>
            </a:pPr>
            <a:r>
              <a:t>O que verificar: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Distribuição simétrica em torno de LFC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Maior "ruído" em genes pouco expressos (esquerda)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Efeito do shrinkage nos extremos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2801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5E1A5"/>
                </a:solidFill>
                <a:latin typeface="Consolas"/>
              </a:defRPr>
            </a:pPr>
            <a:r>
              <a:t># MA Plot</a:t>
            </a:r>
            <a:br/>
            <a:r>
              <a:t>plotMA(res_shrunk,</a:t>
            </a:r>
            <a:br/>
            <a:r>
              <a:t>    ylim = c(-5, 5),</a:t>
            </a:r>
            <a:br/>
            <a:r>
              <a:t>    main = "MA Plot",</a:t>
            </a:r>
            <a:br/>
            <a:r>
              <a:t>    alpha = 0.05)</a:t>
            </a:r>
            <a:br/>
            <a:r>
              <a:t>abline(h = c(-1, 1),</a:t>
            </a:r>
            <a:br/>
            <a:r>
              <a:t>    col = "gray50", lty =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🌋  Volcano 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B87"/>
                </a:solidFill>
                <a:latin typeface="Calibri"/>
              </a:defRPr>
            </a:pPr>
            <a:r>
              <a:t>Como 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Eixo 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log2 Fold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Eixo 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−log10(p-valor)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Canto sup. esquerdo: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Down-regulados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EA022"/>
                </a:solidFill>
                <a:latin typeface="Calibri"/>
              </a:defRPr>
            </a:pPr>
            <a:r>
              <a:t>•  Canto sup. direito: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Up-regulados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Combina significância estatística (↑) com magnitude biológica (← →)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188720"/>
            <a:ext cx="5029200" cy="237744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5E1A5"/>
                </a:solidFill>
                <a:latin typeface="Consolas"/>
              </a:defRPr>
            </a:pPr>
            <a:r>
              <a:t>EnhancedVolcano(res,</a:t>
            </a:r>
            <a:br/>
            <a:r>
              <a:t>  lab = rownames(res),</a:t>
            </a:r>
            <a:br/>
            <a:r>
              <a:t>  x = "log2FoldChange",</a:t>
            </a:r>
            <a:br/>
            <a:r>
              <a:t>  y = "pvalue",</a:t>
            </a:r>
            <a:br/>
            <a:r>
              <a:t>  pCutoff = 0.05,</a:t>
            </a:r>
            <a:br/>
            <a:r>
              <a:t>  FCcutoff = 1,</a:t>
            </a:r>
            <a:br/>
            <a:r>
              <a:t>  title = "Tratamento vs Controle",</a:t>
            </a:r>
            <a:br/>
            <a:r>
              <a:t>  drawConnectors = TRUE)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🔥  Heatmap dos Top Genes 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097280"/>
            <a:ext cx="9418320" cy="41148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188720"/>
            <a:ext cx="9144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400">
                <a:solidFill>
                  <a:srgbClr val="C5E1A5"/>
                </a:solidFill>
                <a:latin typeface="Consolas"/>
              </a:defRPr>
            </a:pPr>
            <a:r>
              <a:t># Selecionar top 50 genes por padj</a:t>
            </a:r>
            <a:br/>
            <a:r>
              <a:t>res_ordered &lt;- res[order(res$padj), ]</a:t>
            </a:r>
            <a:br/>
            <a:r>
              <a:t>top_genes &lt;- head(rownames(res_ordered), 50)</a:t>
            </a:r>
            <a:br/>
            <a:r>
              <a:t>mat &lt;- assay(vsd)[top_genes, ]</a:t>
            </a:r>
            <a:br/>
            <a:br/>
            <a:r>
              <a:t># Z-score por gene (centralizar)</a:t>
            </a:r>
            <a:br/>
            <a:r>
              <a:t>mat_scaled &lt;- t(scale(t(mat)))</a:t>
            </a:r>
            <a:br/>
            <a:br/>
            <a:r>
              <a:t># Heatmap</a:t>
            </a:r>
            <a:br/>
            <a:r>
              <a:t>pheatmap(mat_scaled,</a:t>
            </a:r>
            <a:br/>
            <a:r>
              <a:t>    annotation_col = sample_info["condition"],</a:t>
            </a:r>
            <a:br/>
            <a:r>
              <a:t>    clustering_method = "complete",</a:t>
            </a:r>
            <a:br/>
            <a:r>
              <a:t>    color = colorRampPalette(</a:t>
            </a:r>
            <a:br/>
            <a:r>
              <a:t>        c("#2166AC", "white", "#B2182B"))(100),</a:t>
            </a:r>
            <a:br/>
            <a:r>
              <a:t>    fontsize_row = 7,</a:t>
            </a:r>
            <a:br/>
            <a:r>
              <a:t>    main = "Top 50 Genes DE (Z-score)")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33333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B87"/>
                </a:solidFill>
                <a:latin typeface="Calibri"/>
              </a:defRPr>
            </a:pPr>
            <a:r>
              <a:t>Enriquecimento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ORA, GSEA e KEGG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2222"/>
                </a:solidFill>
                <a:latin typeface="Calibri"/>
              </a:defRPr>
            </a:pPr>
            <a:r>
              <a:t>🤔  O que é enriquecimento funcional?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Temos uma lista de genes DE. E agora?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B87"/>
                </a:solidFill>
                <a:latin typeface="Calibri"/>
              </a:defRPr>
            </a:pPr>
            <a:r>
              <a:t>Quais funções biológicas ou vias metabólicas</a:t>
            </a:r>
            <a:br/>
            <a:r>
              <a:t>estão mais afetadas?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Bancos de dados de anotação funcional: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•  Gene Ontology (GO)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— Biological Process, Molecular Function, Cellular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•  KEGG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— Vias metabólicas e de sinalização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•  Reactome, WikiPathways, MSigDB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— Outras bases complementares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⚖️  ORA vs. GSEA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457200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5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5596"/>
                </a:solidFill>
                <a:latin typeface="Calibri"/>
              </a:defRPr>
            </a:pPr>
            <a:r>
              <a:t>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5596"/>
                </a:solidFill>
                <a:latin typeface="Calibri"/>
              </a:defRPr>
            </a:pPr>
            <a:r>
              <a:t>Over-Representation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Usa APENAS genes DE (lista fixa)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Teste hipergeométrico (Fisher)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Depende do corte (padj, LFC)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Simples e intuitivo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"Meus genes DE estão enriquecidos nesta via?"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88720"/>
            <a:ext cx="5120640" cy="4572000"/>
          </a:xfrm>
          <a:prstGeom prst="roundRect">
            <a:avLst/>
          </a:prstGeom>
          <a:solidFill>
            <a:srgbClr val="1A1028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A1B9A"/>
                </a:solidFill>
                <a:latin typeface="Calibri"/>
              </a:defRPr>
            </a:pPr>
            <a:r>
              <a:t>GSEA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1B9A"/>
                </a:solidFill>
                <a:latin typeface="Calibri"/>
              </a:defRPr>
            </a:pPr>
            <a:r>
              <a:t>Gene Set Enrichment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77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Usa TODOS os genes ranqueados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Sem corte arbitrário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Detecta mudanças coordenadas sutis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Mais poderoso para mudanças distribuídas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"Genes desta via tendem a estar no topo/fundo do ranking?"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🎯  ORA — Gene Ontology + KEGG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486400" cy="384048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5E1A5"/>
                </a:solidFill>
                <a:latin typeface="Consolas"/>
              </a:defRPr>
            </a:pPr>
            <a:r>
              <a:t># Converter IDs para Entrez</a:t>
            </a:r>
            <a:br/>
            <a:r>
              <a:t>gene_entrez &lt;- bitr(sig_gene_ids,</a:t>
            </a:r>
            <a:br/>
            <a:r>
              <a:t>    fromType = "ENSEMBL", toType = "ENTREZID",</a:t>
            </a:r>
            <a:br/>
            <a:r>
              <a:t>    OrgDb = org.Hs.eg.db)</a:t>
            </a:r>
            <a:br/>
            <a:br/>
            <a:r>
              <a:t># ORA — GO Biological Process</a:t>
            </a:r>
            <a:br/>
            <a:r>
              <a:t>ora_go &lt;- enrichGO(</a:t>
            </a:r>
            <a:br/>
            <a:r>
              <a:t>    gene          = gene_entrez$ENTREZID,</a:t>
            </a:r>
            <a:br/>
            <a:r>
              <a:t>    OrgDb         = org.Hs.eg.db,</a:t>
            </a:r>
            <a:br/>
            <a:r>
              <a:t>    ont           = "BP",</a:t>
            </a:r>
            <a:br/>
            <a:r>
              <a:t>    pAdjustMethod = "BH",</a:t>
            </a:r>
            <a:br/>
            <a:r>
              <a:t>    pvalueCutoff  = 0.05,</a:t>
            </a:r>
            <a:br/>
            <a:r>
              <a:t>    readable      = TRUE)</a:t>
            </a:r>
            <a:br/>
            <a:br/>
            <a:r>
              <a:t>dotplot(ora_go, showCategory = 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097280"/>
            <a:ext cx="5029200" cy="274320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1887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5E1A5"/>
                </a:solidFill>
                <a:latin typeface="Consolas"/>
              </a:defRPr>
            </a:pPr>
            <a:r>
              <a:t># ORA — KEGG Pathways</a:t>
            </a:r>
            <a:br/>
            <a:r>
              <a:t>ora_kegg &lt;- enrichKEGG(</a:t>
            </a:r>
            <a:br/>
            <a:r>
              <a:t>    gene          = gene_entrez$ENTREZID,</a:t>
            </a:r>
            <a:br/>
            <a:r>
              <a:t>    organism      = "hsa",</a:t>
            </a:r>
            <a:br/>
            <a:r>
              <a:t>    pAdjustMethod = "BH",</a:t>
            </a:r>
            <a:br/>
            <a:r>
              <a:t>    pvalueCutoff  = 0.05)</a:t>
            </a:r>
            <a:br/>
            <a:br/>
            <a:r>
              <a:t>dotplot(ora_kegg, showCategory = 20,</a:t>
            </a:r>
            <a:br/>
            <a:r>
              <a:t>        title = "KEGG Pathways")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114800"/>
            <a:ext cx="5029200" cy="1097280"/>
          </a:xfrm>
          <a:prstGeom prst="roundRect">
            <a:avLst/>
          </a:prstGeom>
          <a:solidFill>
            <a:srgbClr val="C8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4114800"/>
            <a:ext cx="54864" cy="109728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20624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ℹ️ Códigos de organismo KEGG:</a:t>
            </a:r>
            <a:br/>
            <a:r>
              <a:t>hsa (humano), mmu (camundongo),</a:t>
            </a:r>
            <a:br/>
            <a:r>
              <a:t>dme (Drosophila), ath (Arabidopsis)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📈  GSEA — Preparação e Execução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6858000" cy="384048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5E1A5"/>
                </a:solidFill>
                <a:latin typeface="Consolas"/>
              </a:defRPr>
            </a:pPr>
            <a:r>
              <a:t># Preparar lista ranqueada pela estatística de Wald</a:t>
            </a:r>
            <a:br/>
            <a:r>
              <a:t>res_entrez &lt;- merge(as.data.frame(res), gene_entrez,</a:t>
            </a:r>
            <a:br/>
            <a:r>
              <a:t>                    by.x = "row.names", by.y = "ENSEMBL")</a:t>
            </a:r>
            <a:br/>
            <a:r>
              <a:t>gene_list &lt;- setNames(res_entrez$stat, res_entrez$ENTREZID)</a:t>
            </a:r>
            <a:br/>
            <a:r>
              <a:t>gene_list &lt;- sort(gene_list, decreasing = TRUE)</a:t>
            </a:r>
            <a:br/>
            <a:br/>
            <a:r>
              <a:t># GSEA — GO Biological Process</a:t>
            </a:r>
            <a:br/>
            <a:r>
              <a:t>gsea_go &lt;- gseGO(geneList = gene_list,</a:t>
            </a:r>
            <a:br/>
            <a:r>
              <a:t>                  OrgDb = org.Hs.eg.db,</a:t>
            </a:r>
            <a:br/>
            <a:r>
              <a:t>                  ont = "BP", pvalueCutoff = 0.05)</a:t>
            </a:r>
            <a:br/>
            <a:br/>
            <a:r>
              <a:t># GSEA — KEGG</a:t>
            </a:r>
            <a:br/>
            <a:r>
              <a:t>gsea_kegg &lt;- gseKEGG(geneList = gene_list,</a:t>
            </a:r>
            <a:br/>
            <a:r>
              <a:t>                      organism = "hsa",</a:t>
            </a:r>
            <a:br/>
            <a:r>
              <a:t>                      pvalueCutoff = 0.05)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474720" cy="1828800"/>
          </a:xfrm>
          <a:prstGeom prst="roundRect">
            <a:avLst/>
          </a:prstGeom>
          <a:solidFill>
            <a:srgbClr val="F6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0972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188720"/>
            <a:ext cx="31546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A estatística de Wald (stat) é ideal para ranquear porque combina magnitude (LFC) e confiança (SE) em um único valor.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3474720" cy="2377440"/>
          </a:xfrm>
          <a:prstGeom prst="roundRect">
            <a:avLst/>
          </a:prstGeom>
          <a:solidFill>
            <a:srgbClr val="282C34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3832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C5E1A5"/>
                </a:solidFill>
                <a:latin typeface="Consolas"/>
              </a:defRPr>
            </a:pPr>
            <a:r>
              <a:t># Visualizações</a:t>
            </a:r>
            <a:br/>
            <a:r>
              <a:t>dotplot(gsea_go,</a:t>
            </a:r>
            <a:br/>
            <a:r>
              <a:t>    showCategory = 20,</a:t>
            </a:r>
            <a:br/>
            <a:r>
              <a:t>    split = ".sign") +</a:t>
            </a:r>
            <a:br/>
            <a:r>
              <a:t>  facet_grid(. ~ .sign)</a:t>
            </a:r>
            <a:br/>
            <a:br/>
            <a:r>
              <a:t>gseaplot2(gsea_go,</a:t>
            </a:r>
            <a:br/>
            <a:r>
              <a:t>    geneSetID = 1:3)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59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🔁  Resumo: ORA vs GSEA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188720"/>
            <a:ext cx="256032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16152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Aspecto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88720"/>
            <a:ext cx="36576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216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88720"/>
            <a:ext cx="3657600" cy="502920"/>
          </a:xfrm>
          <a:prstGeom prst="round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216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596"/>
                </a:solidFill>
                <a:latin typeface="Calibri"/>
              </a:defRPr>
            </a:pPr>
            <a:r>
              <a:t>GSEA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78308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178308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178308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180136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01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5596"/>
                </a:solidFill>
                <a:latin typeface="Calibri"/>
              </a:defRPr>
            </a:pPr>
            <a:r>
              <a:t>Lista de genes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013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1B9A"/>
                </a:solidFill>
                <a:latin typeface="Calibri"/>
              </a:defRPr>
            </a:pPr>
            <a:r>
              <a:t>Todos os genes ranqueados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286000"/>
            <a:ext cx="256032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2286000"/>
            <a:ext cx="36576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2286000"/>
            <a:ext cx="36576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30428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Corte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3042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5596"/>
                </a:solidFill>
                <a:latin typeface="Calibri"/>
              </a:defRPr>
            </a:pPr>
            <a:r>
              <a:t>Sim (padj, LFC)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3042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1B9A"/>
                </a:solidFill>
                <a:latin typeface="Calibri"/>
              </a:defRPr>
            </a:pPr>
            <a:r>
              <a:t>Não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278892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278892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0" y="278892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280720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Teste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807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5596"/>
                </a:solidFill>
                <a:latin typeface="Calibri"/>
              </a:defRPr>
            </a:pPr>
            <a:r>
              <a:t>Hipergeométrico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807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1B9A"/>
                </a:solidFill>
                <a:latin typeface="Calibri"/>
              </a:defRPr>
            </a:pPr>
            <a:r>
              <a:t>Running enrichment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291840"/>
            <a:ext cx="256032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57600" y="3291840"/>
            <a:ext cx="36576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0" y="3291840"/>
            <a:ext cx="36576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31012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Força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3310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5596"/>
                </a:solidFill>
                <a:latin typeface="Calibri"/>
              </a:defRPr>
            </a:pPr>
            <a:r>
              <a:t>Simples, intuitivo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310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1B9A"/>
                </a:solidFill>
                <a:latin typeface="Calibri"/>
              </a:defRPr>
            </a:pPr>
            <a:r>
              <a:t>Detecta mudanças sutis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3794760"/>
            <a:ext cx="2560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0" y="379476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0" y="3794760"/>
            <a:ext cx="3657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381304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Fraqueza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813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5596"/>
                </a:solidFill>
                <a:latin typeface="Calibri"/>
              </a:defRPr>
            </a:pPr>
            <a:r>
              <a:t>Depende do corte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813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1B9A"/>
                </a:solidFill>
                <a:latin typeface="Calibri"/>
              </a:defRPr>
            </a:pPr>
            <a:r>
              <a:t>Mais complexo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4297680"/>
            <a:ext cx="256032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57600" y="4297680"/>
            <a:ext cx="36576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15200" y="4297680"/>
            <a:ext cx="3657600" cy="4572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4315968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Usar quando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43159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5596"/>
                </a:solidFill>
                <a:latin typeface="Calibri"/>
              </a:defRPr>
            </a:pPr>
            <a:r>
              <a:t>Mudanças fortes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43159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1B9A"/>
                </a:solidFill>
                <a:latin typeface="Calibri"/>
              </a:defRPr>
            </a:pPr>
            <a:r>
              <a:t>Mudanças distribuídas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029200"/>
            <a:ext cx="9692640" cy="640080"/>
          </a:xfrm>
          <a:prstGeom prst="roundRect">
            <a:avLst/>
          </a:prstGeom>
          <a:solidFill>
            <a:srgbClr val="F6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0" y="5029200"/>
            <a:ext cx="54864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5120640"/>
            <a:ext cx="93726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33333"/>
                </a:solidFill>
                <a:latin typeface="Calibri"/>
              </a:defRPr>
            </a:pPr>
            <a:r>
              <a:t>💡 Use ambos! ORA e GSEA são complementares. Compare os resultados e ganhe mais confiança nas conclusões.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📌  O que aprendemos hoje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9728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7043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DESeq2 usa modelo Binomial Negativa com shrinkage para detectar genes 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9339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Normalização por size factors corrige diferenças de profundidade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1635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 plot mostra a relação entre expressão média e fold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6616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3931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Volcano plot combina significância estatística com magnitude biológica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8912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622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ORA testa enriquecimento em genes DE; GSEA usa todos os genes ranqueados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1208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8523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Organização e README são fundamentais para reprodutibilidade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Calibri"/>
              </a:defRPr>
            </a:pPr>
            <a:r>
              <a:t>📚  Referências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Love MI, Huber W, Anders S. (2014). Moderated estimation of fold change and dispersion for RNA-seq data with DESeq2. Genome Biology, 15:550.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Dobin A et al. (2013). STAR: ultrafast universal RNA-seq aligner. Bioinformatics, 29(1):15-21.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Yu G et al. (2012). clusterProfiler: an R Package for Comparing Biological Themes Among Gene Clusters. OMICS, 16(5):284-287.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Subramanian A et al. (2005). Gene set enrichment analysis. PNAS, 102(43):15545-15550.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DESeq2 Vignette: bioconductor.org/packages/release/bioc/vignettes/DESeq2/inst/doc/DESeq2.html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clusterProfiler Book: yulab-smu.top/biomedical-knowledge-mining-book/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09728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8991295" cy="109728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>
                <a:solidFill>
                  <a:srgbClr val="333333"/>
                </a:solidFill>
                <a:latin typeface="Calibri"/>
              </a:defRPr>
            </a:pPr>
            <a: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4B87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91840"/>
            <a:ext cx="3017520" cy="36576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  <a:latin typeface="Calibri"/>
              </a:defRPr>
            </a:pPr>
            <a:r>
              <a:t>Dúvidas?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Script disponível em: scripts/analise_diferencial.R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Workshop RNA-seq — UFRJ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